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3588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2" d="100"/>
          <a:sy n="82" d="100"/>
        </p:scale>
        <p:origin x="691" y="3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1A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198000"/>
          </a:xfrm>
          <a:prstGeom prst="rect">
            <a:avLst/>
          </a:prstGeom>
          <a:solidFill>
            <a:srgbClr val="E86A2E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660000"/>
            <a:ext cx="12193200" cy="198000"/>
          </a:xfrm>
          <a:prstGeom prst="rect">
            <a:avLst/>
          </a:prstGeom>
          <a:solidFill>
            <a:srgbClr val="E86A2E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680000" y="432000"/>
            <a:ext cx="2808000" cy="2700000"/>
          </a:xfrm>
          <a:prstGeom prst="rect">
            <a:avLst/>
          </a:prstGeom>
          <a:solidFill>
            <a:srgbClr val="322318"/>
          </a:solidFill>
          <a:ln w="25400">
            <a:solidFill>
              <a:srgbClr val="E86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968000" y="756000"/>
            <a:ext cx="2340000" cy="1980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ctr"/>
            <a:r>
              <a:rPr sz="5000" b="0">
                <a:solidFill>
                  <a:srgbClr val="E86A2E"/>
                </a:solidFill>
                <a:latin typeface="Calibri"/>
              </a:rPr>
              <a:t>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0000" y="3348000"/>
            <a:ext cx="11833200" cy="1007999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ctr"/>
            <a:r>
              <a:rPr sz="3300" b="1">
                <a:solidFill>
                  <a:srgbClr val="FDF6EE"/>
                </a:solidFill>
                <a:latin typeface="Calibri"/>
              </a:rPr>
              <a:t>ỨNG DỤNG QUẢN LÝ
CÔNG VIỆC &amp; NHẮC NHỞ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0000" y="4428000"/>
            <a:ext cx="11833200" cy="324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ctr"/>
            <a:r>
              <a:rPr sz="1900" b="0">
                <a:solidFill>
                  <a:srgbClr val="E86A2E"/>
                </a:solidFill>
                <a:latin typeface="Calibri"/>
              </a:rPr>
              <a:t>TodoList Mobile App</a:t>
            </a:r>
          </a:p>
        </p:txBody>
      </p:sp>
      <p:sp>
        <p:nvSpPr>
          <p:cNvPr id="8" name="Rectangle 7"/>
          <p:cNvSpPr/>
          <p:nvPr/>
        </p:nvSpPr>
        <p:spPr>
          <a:xfrm>
            <a:off x="3888000" y="4806000"/>
            <a:ext cx="4392000" cy="25200"/>
          </a:xfrm>
          <a:prstGeom prst="rect">
            <a:avLst/>
          </a:prstGeom>
          <a:solidFill>
            <a:srgbClr val="E86A2E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80000" y="4896000"/>
            <a:ext cx="11833200" cy="234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B8A28A"/>
                </a:solidFill>
                <a:latin typeface="Calibri"/>
              </a:rPr>
              <a:t>Trường Đại học  •  Khoa Công nghệ Thông tin  •  Lập trình di động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0000" y="5166000"/>
            <a:ext cx="11833200" cy="234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B8A28A"/>
                </a:solidFill>
                <a:latin typeface="Calibri"/>
              </a:rPr>
              <a:t>Nhóm 5  •  changlinhngulam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8199" y="5490000"/>
            <a:ext cx="2015999" cy="1116000"/>
          </a:xfrm>
          <a:prstGeom prst="rect">
            <a:avLst/>
          </a:prstGeom>
          <a:solidFill>
            <a:srgbClr val="322318"/>
          </a:solidFill>
          <a:ln w="22860">
            <a:solidFill>
              <a:srgbClr val="E86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54199" y="5562000"/>
            <a:ext cx="1943999" cy="288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FDF6EE"/>
                </a:solidFill>
                <a:latin typeface="Calibri"/>
              </a:rPr>
              <a:t>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2199" y="5886000"/>
            <a:ext cx="1908000" cy="306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DF6EE"/>
                </a:solidFill>
                <a:latin typeface="Calibri"/>
              </a:rPr>
              <a:t>Trần Văn Nam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199" y="6246000"/>
            <a:ext cx="1943999" cy="251999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E86A2E"/>
                </a:solidFill>
                <a:latin typeface="Calibri"/>
              </a:rPr>
              <a:t>Trưởng nhóm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03399" y="5490000"/>
            <a:ext cx="2015999" cy="1116000"/>
          </a:xfrm>
          <a:prstGeom prst="rect">
            <a:avLst/>
          </a:prstGeom>
          <a:solidFill>
            <a:srgbClr val="322318"/>
          </a:solidFill>
          <a:ln w="10160">
            <a:solidFill>
              <a:srgbClr val="553A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939399" y="5562000"/>
            <a:ext cx="1943999" cy="288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FDF6EE"/>
                </a:solidFill>
                <a:latin typeface="Calibri"/>
              </a:rPr>
              <a:t>⚙️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57399" y="5886000"/>
            <a:ext cx="1908000" cy="306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DF6EE"/>
                </a:solidFill>
                <a:latin typeface="Calibri"/>
              </a:rPr>
              <a:t>Phan Gia Bảo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39399" y="6246000"/>
            <a:ext cx="1943999" cy="251999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B8A28A"/>
                </a:solidFill>
                <a:latin typeface="Calibri"/>
              </a:rPr>
              <a:t>Backend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88599" y="5490000"/>
            <a:ext cx="2015999" cy="1116000"/>
          </a:xfrm>
          <a:prstGeom prst="rect">
            <a:avLst/>
          </a:prstGeom>
          <a:solidFill>
            <a:srgbClr val="322318"/>
          </a:solidFill>
          <a:ln w="10160">
            <a:solidFill>
              <a:srgbClr val="553A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124599" y="5562000"/>
            <a:ext cx="1943999" cy="288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FDF6EE"/>
                </a:solidFill>
                <a:latin typeface="Calibri"/>
              </a:rPr>
              <a:t>⚙️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42599" y="5886000"/>
            <a:ext cx="1908000" cy="306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DF6EE"/>
                </a:solidFill>
                <a:latin typeface="Calibri"/>
              </a:rPr>
              <a:t>Lục Vĩn Khang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4599" y="6246000"/>
            <a:ext cx="1943999" cy="251999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B8A28A"/>
                </a:solidFill>
                <a:latin typeface="Calibri"/>
              </a:rPr>
              <a:t>Backend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73799" y="5490000"/>
            <a:ext cx="2015999" cy="1116000"/>
          </a:xfrm>
          <a:prstGeom prst="rect">
            <a:avLst/>
          </a:prstGeom>
          <a:solidFill>
            <a:srgbClr val="322318"/>
          </a:solidFill>
          <a:ln w="10160">
            <a:solidFill>
              <a:srgbClr val="553A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309800" y="5562000"/>
            <a:ext cx="1943999" cy="288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FDF6EE"/>
                </a:solidFill>
                <a:latin typeface="Calibri"/>
              </a:rPr>
              <a:t>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27799" y="5886000"/>
            <a:ext cx="1908000" cy="306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DF6EE"/>
                </a:solidFill>
                <a:latin typeface="Calibri"/>
              </a:rPr>
              <a:t>Nguyễn Kha Gia Hào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09800" y="6246000"/>
            <a:ext cx="1943999" cy="251999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B8A28A"/>
                </a:solidFill>
                <a:latin typeface="Calibri"/>
              </a:rPr>
              <a:t>Frontend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459000" y="5490000"/>
            <a:ext cx="2015999" cy="1116000"/>
          </a:xfrm>
          <a:prstGeom prst="rect">
            <a:avLst/>
          </a:prstGeom>
          <a:solidFill>
            <a:srgbClr val="322318"/>
          </a:solidFill>
          <a:ln w="10160">
            <a:solidFill>
              <a:srgbClr val="553A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495000" y="5562000"/>
            <a:ext cx="1943999" cy="288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FDF6EE"/>
                </a:solidFill>
                <a:latin typeface="Calibri"/>
              </a:rPr>
              <a:t>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12999" y="5886000"/>
            <a:ext cx="1908000" cy="306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DF6EE"/>
                </a:solidFill>
                <a:latin typeface="Calibri"/>
              </a:rPr>
              <a:t>Huỳnh Khánh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95000" y="6246000"/>
            <a:ext cx="1943999" cy="251999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B8A28A"/>
                </a:solidFill>
                <a:latin typeface="Calibri"/>
              </a:rPr>
              <a:t>Frontend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1A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16000" cy="6858000"/>
          </a:xfrm>
          <a:prstGeom prst="rect">
            <a:avLst/>
          </a:prstGeom>
          <a:solidFill>
            <a:srgbClr val="E86A2E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32000" y="151200"/>
            <a:ext cx="11473200" cy="360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FDF6EE"/>
                </a:solidFill>
                <a:latin typeface="Calibri"/>
              </a:rPr>
              <a:t>NỘI DUNG BÁO CÁO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558000"/>
            <a:ext cx="10080000" cy="25200"/>
          </a:xfrm>
          <a:prstGeom prst="rect">
            <a:avLst/>
          </a:prstGeom>
          <a:solidFill>
            <a:srgbClr val="E86A2E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32000" y="666000"/>
            <a:ext cx="5646599" cy="460800"/>
          </a:xfrm>
          <a:prstGeom prst="rect">
            <a:avLst/>
          </a:prstGeom>
          <a:solidFill>
            <a:srgbClr val="322318"/>
          </a:solidFill>
          <a:ln w="7620">
            <a:solidFill>
              <a:srgbClr val="503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0000" y="720000"/>
            <a:ext cx="720000" cy="342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86A2E"/>
                </a:solidFill>
                <a:latin typeface="Calibr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95999" y="752400"/>
            <a:ext cx="4674599" cy="306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FDF6EE"/>
                </a:solidFill>
                <a:latin typeface="Calibri"/>
              </a:rPr>
              <a:t>Mở đầu – Tổng quan &amp; Mục tiêu</a:t>
            </a:r>
          </a:p>
        </p:txBody>
      </p:sp>
      <p:sp>
        <p:nvSpPr>
          <p:cNvPr id="8" name="Rectangle 7"/>
          <p:cNvSpPr/>
          <p:nvPr/>
        </p:nvSpPr>
        <p:spPr>
          <a:xfrm>
            <a:off x="6258599" y="666000"/>
            <a:ext cx="5646599" cy="460800"/>
          </a:xfrm>
          <a:prstGeom prst="rect">
            <a:avLst/>
          </a:prstGeom>
          <a:solidFill>
            <a:srgbClr val="322318"/>
          </a:solidFill>
          <a:ln w="7620">
            <a:solidFill>
              <a:srgbClr val="503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366599" y="720000"/>
            <a:ext cx="720000" cy="342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86A2E"/>
                </a:solidFill>
                <a:latin typeface="Calibri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22599" y="752400"/>
            <a:ext cx="4674599" cy="306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FDF6EE"/>
                </a:solidFill>
                <a:latin typeface="Calibri"/>
              </a:rPr>
              <a:t>Tech Stack – Kiến trúc hệ thống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000" y="1206000"/>
            <a:ext cx="5646599" cy="460800"/>
          </a:xfrm>
          <a:prstGeom prst="rect">
            <a:avLst/>
          </a:prstGeom>
          <a:solidFill>
            <a:srgbClr val="322318"/>
          </a:solidFill>
          <a:ln w="7620">
            <a:solidFill>
              <a:srgbClr val="503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0000" y="1260000"/>
            <a:ext cx="720000" cy="342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86A2E"/>
                </a:solidFill>
                <a:latin typeface="Calibri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5999" y="1292400"/>
            <a:ext cx="4674599" cy="306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FDF6EE"/>
                </a:solidFill>
                <a:latin typeface="Calibri"/>
              </a:rPr>
              <a:t>Cơ sở dữ liệu &amp; Mô hình dữ liệu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58599" y="1206000"/>
            <a:ext cx="5646599" cy="460800"/>
          </a:xfrm>
          <a:prstGeom prst="rect">
            <a:avLst/>
          </a:prstGeom>
          <a:solidFill>
            <a:srgbClr val="322318"/>
          </a:solidFill>
          <a:ln w="7620">
            <a:solidFill>
              <a:srgbClr val="503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66599" y="1260000"/>
            <a:ext cx="720000" cy="342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86A2E"/>
                </a:solidFill>
                <a:latin typeface="Calibri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22599" y="1292400"/>
            <a:ext cx="4674599" cy="306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FDF6EE"/>
                </a:solidFill>
                <a:latin typeface="Calibri"/>
              </a:rPr>
              <a:t>Chức năng chính của ứng dụng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2000" y="1745999"/>
            <a:ext cx="5646599" cy="460800"/>
          </a:xfrm>
          <a:prstGeom prst="rect">
            <a:avLst/>
          </a:prstGeom>
          <a:solidFill>
            <a:srgbClr val="322318"/>
          </a:solidFill>
          <a:ln w="7620">
            <a:solidFill>
              <a:srgbClr val="503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0000" y="1800000"/>
            <a:ext cx="720000" cy="342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86A2E"/>
                </a:solidFill>
                <a:latin typeface="Calibri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5999" y="1832400"/>
            <a:ext cx="4674599" cy="306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FDF6EE"/>
                </a:solidFill>
                <a:latin typeface="Calibri"/>
              </a:rPr>
              <a:t>Tính năng Báo thức thông minh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58599" y="1745999"/>
            <a:ext cx="5646599" cy="460800"/>
          </a:xfrm>
          <a:prstGeom prst="rect">
            <a:avLst/>
          </a:prstGeom>
          <a:solidFill>
            <a:srgbClr val="322318"/>
          </a:solidFill>
          <a:ln w="7620">
            <a:solidFill>
              <a:srgbClr val="503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66599" y="1800000"/>
            <a:ext cx="720000" cy="342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86A2E"/>
                </a:solidFill>
                <a:latin typeface="Calibri"/>
              </a:rP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22599" y="1832400"/>
            <a:ext cx="4674599" cy="306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FDF6EE"/>
                </a:solidFill>
                <a:latin typeface="Calibri"/>
              </a:rPr>
              <a:t>Giao diện UI/UX &amp; Micro-interactions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2000" y="2286000"/>
            <a:ext cx="5646599" cy="460800"/>
          </a:xfrm>
          <a:prstGeom prst="rect">
            <a:avLst/>
          </a:prstGeom>
          <a:solidFill>
            <a:srgbClr val="322318"/>
          </a:solidFill>
          <a:ln w="7620">
            <a:solidFill>
              <a:srgbClr val="503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40000" y="2340000"/>
            <a:ext cx="720000" cy="342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86A2E"/>
                </a:solidFill>
                <a:latin typeface="Calibri"/>
              </a:rPr>
              <a:t>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95999" y="2372400"/>
            <a:ext cx="4674599" cy="306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FDF6EE"/>
                </a:solidFill>
                <a:latin typeface="Calibri"/>
              </a:rPr>
              <a:t>Giới thiệu Code – Backend (JWT / Auth)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58599" y="2286000"/>
            <a:ext cx="5646599" cy="460800"/>
          </a:xfrm>
          <a:prstGeom prst="rect">
            <a:avLst/>
          </a:prstGeom>
          <a:solidFill>
            <a:srgbClr val="322318"/>
          </a:solidFill>
          <a:ln w="7620">
            <a:solidFill>
              <a:srgbClr val="503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366599" y="2340000"/>
            <a:ext cx="720000" cy="342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86A2E"/>
                </a:solidFill>
                <a:latin typeface="Calibri"/>
              </a:rPr>
              <a:t>08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22599" y="2372400"/>
            <a:ext cx="4674599" cy="306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FDF6EE"/>
                </a:solidFill>
                <a:latin typeface="Calibri"/>
              </a:rPr>
              <a:t>Giới thiệu Code – Frontend (Compose / ViewModel)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2000" y="2826000"/>
            <a:ext cx="5646599" cy="460800"/>
          </a:xfrm>
          <a:prstGeom prst="rect">
            <a:avLst/>
          </a:prstGeom>
          <a:solidFill>
            <a:srgbClr val="322318"/>
          </a:solidFill>
          <a:ln w="7620">
            <a:solidFill>
              <a:srgbClr val="503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40000" y="2880000"/>
            <a:ext cx="720000" cy="342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86A2E"/>
                </a:solidFill>
                <a:latin typeface="Calibri"/>
              </a:rPr>
              <a:t>09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95999" y="2912400"/>
            <a:ext cx="4674599" cy="306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FDF6EE"/>
                </a:solidFill>
                <a:latin typeface="Calibri"/>
              </a:rPr>
              <a:t>Giới thiệu Code – Báo thức (AlarmReceiver)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58599" y="2826000"/>
            <a:ext cx="5646599" cy="460800"/>
          </a:xfrm>
          <a:prstGeom prst="rect">
            <a:avLst/>
          </a:prstGeom>
          <a:solidFill>
            <a:srgbClr val="322318"/>
          </a:solidFill>
          <a:ln w="7620">
            <a:solidFill>
              <a:srgbClr val="503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366599" y="2880000"/>
            <a:ext cx="720000" cy="342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86A2E"/>
                </a:solidFill>
                <a:latin typeface="Calibri"/>
              </a:rPr>
              <a:t>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22599" y="2912400"/>
            <a:ext cx="4674599" cy="306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FDF6EE"/>
                </a:solidFill>
                <a:latin typeface="Calibri"/>
              </a:rPr>
              <a:t>Demo luồng sử dụng thực tế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2000" y="3366000"/>
            <a:ext cx="5646599" cy="460800"/>
          </a:xfrm>
          <a:prstGeom prst="rect">
            <a:avLst/>
          </a:prstGeom>
          <a:solidFill>
            <a:srgbClr val="322318"/>
          </a:solidFill>
          <a:ln w="7620">
            <a:solidFill>
              <a:srgbClr val="503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40000" y="3420000"/>
            <a:ext cx="720000" cy="342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86A2E"/>
                </a:solidFill>
                <a:latin typeface="Calibri"/>
              </a:rPr>
              <a:t>11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95999" y="3452400"/>
            <a:ext cx="4674599" cy="306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FDF6EE"/>
                </a:solidFill>
                <a:latin typeface="Calibri"/>
              </a:rPr>
              <a:t>Kết luận &amp; Hướng phát triển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58599" y="3366000"/>
            <a:ext cx="5646599" cy="460800"/>
          </a:xfrm>
          <a:prstGeom prst="rect">
            <a:avLst/>
          </a:prstGeom>
          <a:solidFill>
            <a:srgbClr val="322318"/>
          </a:solidFill>
          <a:ln w="7620">
            <a:solidFill>
              <a:srgbClr val="503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366599" y="3420000"/>
            <a:ext cx="720000" cy="342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86A2E"/>
                </a:solidFill>
                <a:latin typeface="Calibri"/>
              </a:rPr>
              <a:t>12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22599" y="3452400"/>
            <a:ext cx="4674599" cy="306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FDF6EE"/>
                </a:solidFill>
                <a:latin typeface="Calibri"/>
              </a:rPr>
              <a:t>Tài liệu tham khảo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16000" y="5404261"/>
            <a:ext cx="2316239" cy="450000"/>
          </a:xfrm>
          <a:prstGeom prst="rect">
            <a:avLst/>
          </a:prstGeom>
          <a:solidFill>
            <a:srgbClr val="322318"/>
          </a:solidFill>
          <a:ln w="8890">
            <a:solidFill>
              <a:srgbClr val="E86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287999" y="5440261"/>
            <a:ext cx="2226239" cy="216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DF6EE"/>
                </a:solidFill>
                <a:latin typeface="Calibri"/>
              </a:rPr>
              <a:t>👑 Trần Văn Nam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87999" y="5663461"/>
            <a:ext cx="2226239" cy="1512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86A2E"/>
                </a:solidFill>
                <a:latin typeface="Calibri"/>
              </a:rPr>
              <a:t>Trưởng nhóm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568239" y="5404261"/>
            <a:ext cx="2316239" cy="450000"/>
          </a:xfrm>
          <a:prstGeom prst="rect">
            <a:avLst/>
          </a:prstGeom>
          <a:solidFill>
            <a:srgbClr val="322318"/>
          </a:solidFill>
          <a:ln w="8890">
            <a:solidFill>
              <a:srgbClr val="503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2640239" y="5440261"/>
            <a:ext cx="2226239" cy="216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DF6EE"/>
                </a:solidFill>
                <a:latin typeface="Calibri"/>
              </a:rPr>
              <a:t>⚙️ Phan Gia Bảo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40239" y="5663461"/>
            <a:ext cx="2226239" cy="1512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8A28A"/>
                </a:solidFill>
                <a:latin typeface="Calibri"/>
              </a:rPr>
              <a:t>Backend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920479" y="5404261"/>
            <a:ext cx="2316239" cy="450000"/>
          </a:xfrm>
          <a:prstGeom prst="rect">
            <a:avLst/>
          </a:prstGeom>
          <a:solidFill>
            <a:srgbClr val="322318"/>
          </a:solidFill>
          <a:ln w="8890">
            <a:solidFill>
              <a:srgbClr val="503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4992479" y="5440261"/>
            <a:ext cx="2226239" cy="216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DF6EE"/>
                </a:solidFill>
                <a:latin typeface="Calibri"/>
              </a:rPr>
              <a:t>⚙️ Lục Vĩn Khang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992479" y="5663461"/>
            <a:ext cx="2226239" cy="1512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8A28A"/>
                </a:solidFill>
                <a:latin typeface="Calibri"/>
              </a:rPr>
              <a:t>Backend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272719" y="5404261"/>
            <a:ext cx="2316239" cy="450000"/>
          </a:xfrm>
          <a:prstGeom prst="rect">
            <a:avLst/>
          </a:prstGeom>
          <a:solidFill>
            <a:srgbClr val="322318"/>
          </a:solidFill>
          <a:ln w="8890">
            <a:solidFill>
              <a:srgbClr val="503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7344719" y="5440261"/>
            <a:ext cx="2226239" cy="216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DF6EE"/>
                </a:solidFill>
                <a:latin typeface="Calibri"/>
              </a:rPr>
              <a:t>📱 Nguyễn Kha Gia Hào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44719" y="5663461"/>
            <a:ext cx="2226239" cy="1512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8A28A"/>
                </a:solidFill>
                <a:latin typeface="Calibri"/>
              </a:rPr>
              <a:t>Frontend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624959" y="5404261"/>
            <a:ext cx="2316239" cy="450000"/>
          </a:xfrm>
          <a:prstGeom prst="rect">
            <a:avLst/>
          </a:prstGeom>
          <a:solidFill>
            <a:srgbClr val="322318"/>
          </a:solidFill>
          <a:ln w="8890">
            <a:solidFill>
              <a:srgbClr val="503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9696959" y="5440261"/>
            <a:ext cx="2226239" cy="216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DF6EE"/>
                </a:solidFill>
                <a:latin typeface="Calibri"/>
              </a:rPr>
              <a:t>📱 Huỳnh Khánh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696959" y="5663461"/>
            <a:ext cx="2226239" cy="1512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8A28A"/>
                </a:solidFill>
                <a:latin typeface="Calibri"/>
              </a:rPr>
              <a:t>Frontend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1A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16000" cy="6858000"/>
          </a:xfrm>
          <a:prstGeom prst="rect">
            <a:avLst/>
          </a:prstGeom>
          <a:solidFill>
            <a:srgbClr val="E86A2E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32000" y="151200"/>
            <a:ext cx="11617199" cy="396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DF6EE"/>
                </a:solidFill>
                <a:latin typeface="Calibri"/>
              </a:rPr>
              <a:t>01  –  MỞ ĐẦU &amp; TỔNG QUAN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568800"/>
            <a:ext cx="8640000" cy="25200"/>
          </a:xfrm>
          <a:prstGeom prst="rect">
            <a:avLst/>
          </a:prstGeom>
          <a:solidFill>
            <a:srgbClr val="E86A2E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32000" y="720000"/>
            <a:ext cx="5646599" cy="5220000"/>
          </a:xfrm>
          <a:prstGeom prst="rect">
            <a:avLst/>
          </a:prstGeom>
          <a:solidFill>
            <a:srgbClr val="322318"/>
          </a:solidFill>
          <a:ln w="6350">
            <a:solidFill>
              <a:srgbClr val="422F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76000" y="827999"/>
            <a:ext cx="5466599" cy="288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86A2E"/>
                </a:solidFill>
                <a:latin typeface="Calibri"/>
              </a:rPr>
              <a:t>❓  VẤN ĐỀ ĐẶT 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206000"/>
            <a:ext cx="5394599" cy="864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DF6EE"/>
                </a:solidFill>
                <a:latin typeface="Calibri"/>
              </a:rPr>
              <a:t>Cuộc sống hiện đại nhiều công việc song song,
dễ quên và bỏ lỡ deadline quan trọng.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2178000"/>
            <a:ext cx="5394599" cy="864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DF6EE"/>
                </a:solidFill>
                <a:latin typeface="Calibri"/>
              </a:rPr>
              <a:t>Các app thường thiếu tính năng nhắc nhở
chính xác khi điện thoại đang khóa.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3150000"/>
            <a:ext cx="5394599" cy="864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DF6EE"/>
                </a:solidFill>
                <a:latin typeface="Calibri"/>
              </a:rPr>
              <a:t>Không phân loại được mức độ ưu tiên,
khó quản lý khi có nhiều task cùng lúc.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00" y="4122000"/>
            <a:ext cx="5394599" cy="864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DF6EE"/>
                </a:solidFill>
                <a:latin typeface="Calibri"/>
              </a:rPr>
              <a:t>Thiếu giao diện trực quan và phản hồi
mượt mà khi chạm.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58599" y="720000"/>
            <a:ext cx="5646599" cy="5220000"/>
          </a:xfrm>
          <a:prstGeom prst="rect">
            <a:avLst/>
          </a:prstGeom>
          <a:solidFill>
            <a:srgbClr val="322318"/>
          </a:solidFill>
          <a:ln w="6350">
            <a:solidFill>
              <a:srgbClr val="422F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2599" y="827999"/>
            <a:ext cx="5466599" cy="288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86A2E"/>
                </a:solidFill>
                <a:latin typeface="Calibri"/>
              </a:rPr>
              <a:t>🎯  MỤC TIÊU DỰ ÁN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2599" y="1206000"/>
            <a:ext cx="5430599" cy="864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DF6EE"/>
                </a:solidFill>
                <a:latin typeface="Calibri"/>
              </a:rPr>
              <a:t>✅  Xây dựng app quản lý công việc theo
     danh mục + mức độ ưu tiên.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2599" y="2178000"/>
            <a:ext cx="5430599" cy="864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DF6EE"/>
                </a:solidFill>
                <a:latin typeface="Calibri"/>
              </a:rPr>
              <a:t>✅  Báo thức chính xác ngay cả khi app
     chạy ngầm / màn hình khóa.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2599" y="3150000"/>
            <a:ext cx="5430599" cy="864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DF6EE"/>
                </a:solidFill>
                <a:latin typeface="Calibri"/>
              </a:rPr>
              <a:t>✅  Giao diện mượt mà với hiệu ứng vật lý
     lò xo Bounce Click Animation.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2599" y="4122000"/>
            <a:ext cx="5430599" cy="864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DF6EE"/>
                </a:solidFill>
                <a:latin typeface="Calibri"/>
              </a:rPr>
              <a:t>✅  Kiến trúc tách Backend–Mobile kết nối
     RESTful API bảo mật JWT.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2000" y="6030000"/>
            <a:ext cx="11473200" cy="234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ctr"/>
            <a:r>
              <a:rPr sz="1150" b="0">
                <a:solidFill>
                  <a:srgbClr val="B8A28A"/>
                </a:solidFill>
                <a:latin typeface="Calibri"/>
              </a:rPr>
              <a:t>4 màn hình chính   •   3 mức ưu tiên   •   JWT Auth   •   Báo thức Full-Screen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1A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16000" cy="6858000"/>
          </a:xfrm>
          <a:prstGeom prst="rect">
            <a:avLst/>
          </a:prstGeom>
          <a:solidFill>
            <a:srgbClr val="E86A2E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32000" y="151200"/>
            <a:ext cx="11617199" cy="396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DF6EE"/>
                </a:solidFill>
                <a:latin typeface="Calibri"/>
              </a:rPr>
              <a:t>02  –  TECH STACK &amp; KIẾN TRÚC HỆ THỐNG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568800"/>
            <a:ext cx="8640000" cy="25200"/>
          </a:xfrm>
          <a:prstGeom prst="rect">
            <a:avLst/>
          </a:prstGeom>
          <a:solidFill>
            <a:srgbClr val="E86A2E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32000" y="720000"/>
            <a:ext cx="3704399" cy="306000"/>
          </a:xfrm>
          <a:prstGeom prst="rect">
            <a:avLst/>
          </a:prstGeom>
          <a:solidFill>
            <a:srgbClr val="E86A2E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0000" y="737999"/>
            <a:ext cx="3560399" cy="270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Calibri"/>
              </a:rPr>
              <a:t>📱  ANDROID CLIENT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432000" y="1062000"/>
            <a:ext cx="3704399" cy="522000"/>
          </a:xfrm>
          <a:prstGeom prst="rect">
            <a:avLst/>
          </a:prstGeom>
          <a:solidFill>
            <a:srgbClr val="422F2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3999" y="1098000"/>
            <a:ext cx="3596399" cy="450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FDF6EE"/>
                </a:solidFill>
                <a:latin typeface="Calibri"/>
              </a:rPr>
              <a:t>  Kotlin + Jetpack Compose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000" y="1638000"/>
            <a:ext cx="3704399" cy="522000"/>
          </a:xfrm>
          <a:prstGeom prst="rect">
            <a:avLst/>
          </a:prstGeom>
          <a:solidFill>
            <a:srgbClr val="322318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3999" y="1674000"/>
            <a:ext cx="3596399" cy="450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FDF6EE"/>
                </a:solidFill>
                <a:latin typeface="Calibri"/>
              </a:rPr>
              <a:t>  MVVM Architecture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000" y="2214000"/>
            <a:ext cx="3704399" cy="522000"/>
          </a:xfrm>
          <a:prstGeom prst="rect">
            <a:avLst/>
          </a:prstGeom>
          <a:solidFill>
            <a:srgbClr val="422F2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3999" y="2250000"/>
            <a:ext cx="3596399" cy="450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FDF6EE"/>
                </a:solidFill>
                <a:latin typeface="Calibri"/>
              </a:rPr>
              <a:t>  Retrofit2 + OkHttp3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2000" y="2790000"/>
            <a:ext cx="3704399" cy="522000"/>
          </a:xfrm>
          <a:prstGeom prst="rect">
            <a:avLst/>
          </a:prstGeom>
          <a:solidFill>
            <a:srgbClr val="322318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3999" y="2826000"/>
            <a:ext cx="3596399" cy="450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FDF6EE"/>
                </a:solidFill>
                <a:latin typeface="Calibri"/>
              </a:rPr>
              <a:t>  EncryptedSharedPreferences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2000" y="3366000"/>
            <a:ext cx="3704399" cy="522000"/>
          </a:xfrm>
          <a:prstGeom prst="rect">
            <a:avLst/>
          </a:prstGeom>
          <a:solidFill>
            <a:srgbClr val="422F2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3999" y="3401999"/>
            <a:ext cx="3596399" cy="450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FDF6EE"/>
                </a:solidFill>
                <a:latin typeface="Calibri"/>
              </a:rPr>
              <a:t>  AlarmManager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2000" y="3941999"/>
            <a:ext cx="3704399" cy="522000"/>
          </a:xfrm>
          <a:prstGeom prst="rect">
            <a:avLst/>
          </a:prstGeom>
          <a:solidFill>
            <a:srgbClr val="322318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03999" y="3978000"/>
            <a:ext cx="3596399" cy="450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FDF6EE"/>
                </a:solidFill>
                <a:latin typeface="Calibri"/>
              </a:rPr>
              <a:t>  Material Design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4399" y="2088000"/>
            <a:ext cx="172800" cy="251999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E86A2E"/>
                </a:solidFill>
                <a:latin typeface="Calibri"/>
              </a:rPr>
              <a:t>◄──►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54399" y="2376000"/>
            <a:ext cx="172800" cy="324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B8A28A"/>
                </a:solidFill>
                <a:latin typeface="Calibri"/>
              </a:rPr>
              <a:t>HTTP
JSON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16399" y="720000"/>
            <a:ext cx="3704399" cy="306000"/>
          </a:xfrm>
          <a:prstGeom prst="rect">
            <a:avLst/>
          </a:prstGeom>
          <a:solidFill>
            <a:srgbClr val="2196F3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424399" y="737999"/>
            <a:ext cx="3560399" cy="270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Calibri"/>
              </a:rPr>
              <a:t>⚙️  BACKEND API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16399" y="1062000"/>
            <a:ext cx="3704399" cy="522000"/>
          </a:xfrm>
          <a:prstGeom prst="rect">
            <a:avLst/>
          </a:prstGeom>
          <a:solidFill>
            <a:srgbClr val="422F2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388399" y="1098000"/>
            <a:ext cx="3596399" cy="450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FDF6EE"/>
                </a:solidFill>
                <a:latin typeface="Calibri"/>
              </a:rPr>
              <a:t>  C# .NET Core 8 WebAPI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16399" y="1638000"/>
            <a:ext cx="3704399" cy="522000"/>
          </a:xfrm>
          <a:prstGeom prst="rect">
            <a:avLst/>
          </a:prstGeom>
          <a:solidFill>
            <a:srgbClr val="322318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388399" y="1674000"/>
            <a:ext cx="3596399" cy="450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FDF6EE"/>
                </a:solidFill>
                <a:latin typeface="Calibri"/>
              </a:rPr>
              <a:t>  ASP.NET Core Identity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16399" y="2214000"/>
            <a:ext cx="3704399" cy="522000"/>
          </a:xfrm>
          <a:prstGeom prst="rect">
            <a:avLst/>
          </a:prstGeom>
          <a:solidFill>
            <a:srgbClr val="422F2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388399" y="2250000"/>
            <a:ext cx="3596399" cy="450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FDF6EE"/>
                </a:solidFill>
                <a:latin typeface="Calibri"/>
              </a:rPr>
              <a:t>  JWT Authentication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16399" y="2790000"/>
            <a:ext cx="3704399" cy="522000"/>
          </a:xfrm>
          <a:prstGeom prst="rect">
            <a:avLst/>
          </a:prstGeom>
          <a:solidFill>
            <a:srgbClr val="322318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388399" y="2826000"/>
            <a:ext cx="3596399" cy="450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FDF6EE"/>
                </a:solidFill>
                <a:latin typeface="Calibri"/>
              </a:rPr>
              <a:t>  Entity Framework Core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16399" y="3366000"/>
            <a:ext cx="3704399" cy="522000"/>
          </a:xfrm>
          <a:prstGeom prst="rect">
            <a:avLst/>
          </a:prstGeom>
          <a:solidFill>
            <a:srgbClr val="422F2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388399" y="3401999"/>
            <a:ext cx="3596399" cy="450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FDF6EE"/>
                </a:solidFill>
                <a:latin typeface="Calibri"/>
              </a:rPr>
              <a:t>  Service Layer Pattern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16399" y="3941999"/>
            <a:ext cx="3704399" cy="522000"/>
          </a:xfrm>
          <a:prstGeom prst="rect">
            <a:avLst/>
          </a:prstGeom>
          <a:solidFill>
            <a:srgbClr val="322318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388399" y="3978000"/>
            <a:ext cx="3596399" cy="450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FDF6EE"/>
                </a:solidFill>
                <a:latin typeface="Calibri"/>
              </a:rPr>
              <a:t>  Swagger / OpenAPI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38799" y="2088000"/>
            <a:ext cx="172800" cy="251999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E86A2E"/>
                </a:solidFill>
                <a:latin typeface="Calibri"/>
              </a:rPr>
              <a:t>◄──►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38799" y="2376000"/>
            <a:ext cx="172800" cy="324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B8A28A"/>
                </a:solidFill>
                <a:latin typeface="Calibri"/>
              </a:rPr>
              <a:t>HTTP
JSON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00799" y="720000"/>
            <a:ext cx="3704399" cy="306000"/>
          </a:xfrm>
          <a:prstGeom prst="rect">
            <a:avLst/>
          </a:prstGeom>
          <a:solidFill>
            <a:srgbClr val="4CAF50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308799" y="737999"/>
            <a:ext cx="3560399" cy="270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Calibri"/>
              </a:rPr>
              <a:t>🗄️  DATABASE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00799" y="1062000"/>
            <a:ext cx="3704399" cy="522000"/>
          </a:xfrm>
          <a:prstGeom prst="rect">
            <a:avLst/>
          </a:prstGeom>
          <a:solidFill>
            <a:srgbClr val="422F2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272799" y="1098000"/>
            <a:ext cx="3596399" cy="450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FDF6EE"/>
                </a:solidFill>
                <a:latin typeface="Calibri"/>
              </a:rPr>
              <a:t>  SQLite (file-based)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00799" y="1638000"/>
            <a:ext cx="3704399" cy="522000"/>
          </a:xfrm>
          <a:prstGeom prst="rect">
            <a:avLst/>
          </a:prstGeom>
          <a:solidFill>
            <a:srgbClr val="322318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272799" y="1674000"/>
            <a:ext cx="3596399" cy="450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FDF6EE"/>
                </a:solidFill>
                <a:latin typeface="Calibri"/>
              </a:rPr>
              <a:t>  EF Core Code-First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200799" y="2214000"/>
            <a:ext cx="3704399" cy="522000"/>
          </a:xfrm>
          <a:prstGeom prst="rect">
            <a:avLst/>
          </a:prstGeom>
          <a:solidFill>
            <a:srgbClr val="422F2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272799" y="2250000"/>
            <a:ext cx="3596399" cy="450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FDF6EE"/>
                </a:solidFill>
                <a:latin typeface="Calibri"/>
              </a:rPr>
              <a:t>  Bảng Users (Identity)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200799" y="2790000"/>
            <a:ext cx="3704399" cy="522000"/>
          </a:xfrm>
          <a:prstGeom prst="rect">
            <a:avLst/>
          </a:prstGeom>
          <a:solidFill>
            <a:srgbClr val="322318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272799" y="2826000"/>
            <a:ext cx="3596399" cy="450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FDF6EE"/>
                </a:solidFill>
                <a:latin typeface="Calibri"/>
              </a:rPr>
              <a:t>  Bảng Categories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200799" y="3366000"/>
            <a:ext cx="3704399" cy="522000"/>
          </a:xfrm>
          <a:prstGeom prst="rect">
            <a:avLst/>
          </a:prstGeom>
          <a:solidFill>
            <a:srgbClr val="422F2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8272799" y="3401999"/>
            <a:ext cx="3596399" cy="450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FDF6EE"/>
                </a:solidFill>
                <a:latin typeface="Calibri"/>
              </a:rPr>
              <a:t>  Bảng TodoItems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200799" y="3941999"/>
            <a:ext cx="3704399" cy="522000"/>
          </a:xfrm>
          <a:prstGeom prst="rect">
            <a:avLst/>
          </a:prstGeom>
          <a:solidFill>
            <a:srgbClr val="322318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8272799" y="3978000"/>
            <a:ext cx="3596399" cy="450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FDF6EE"/>
                </a:solidFill>
                <a:latin typeface="Calibri"/>
              </a:rPr>
              <a:t>  Bảng RefreshTokens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2000" y="4626000"/>
            <a:ext cx="11473200" cy="234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ctr"/>
            <a:r>
              <a:rPr sz="1150" b="0">
                <a:solidFill>
                  <a:srgbClr val="B8A28A"/>
                </a:solidFill>
                <a:latin typeface="Calibri"/>
              </a:rPr>
              <a:t>Pattern: MVVM (Android)  +  Service Layer (Backend)   |   Giao tiếp: RESTful API + JWT Bearer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1A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16000" cy="6858000"/>
          </a:xfrm>
          <a:prstGeom prst="rect">
            <a:avLst/>
          </a:prstGeom>
          <a:solidFill>
            <a:srgbClr val="E86A2E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32000" y="151200"/>
            <a:ext cx="11617199" cy="396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DF6EE"/>
                </a:solidFill>
                <a:latin typeface="Calibri"/>
              </a:rPr>
              <a:t>03  –  CƠ SỞ DỮ LIỆU &amp; MÔ HÌNH DỮ LIỆU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568800"/>
            <a:ext cx="8640000" cy="25200"/>
          </a:xfrm>
          <a:prstGeom prst="rect">
            <a:avLst/>
          </a:prstGeom>
          <a:solidFill>
            <a:srgbClr val="E86A2E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32000" y="720000"/>
            <a:ext cx="2733299" cy="295200"/>
          </a:xfrm>
          <a:prstGeom prst="rect">
            <a:avLst/>
          </a:prstGeom>
          <a:solidFill>
            <a:srgbClr val="2196F3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22000" y="741600"/>
            <a:ext cx="2625299" cy="2592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Users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2000" y="1015200"/>
            <a:ext cx="2733299" cy="2041200"/>
          </a:xfrm>
          <a:prstGeom prst="rect">
            <a:avLst/>
          </a:prstGeom>
          <a:solidFill>
            <a:srgbClr val="322318"/>
          </a:solidFill>
          <a:ln w="8890">
            <a:solidFill>
              <a:srgbClr val="219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32000" y="1015200"/>
            <a:ext cx="2733299" cy="331200"/>
          </a:xfrm>
          <a:prstGeom prst="rect">
            <a:avLst/>
          </a:prstGeom>
          <a:solidFill>
            <a:srgbClr val="422F2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0000" y="1036800"/>
            <a:ext cx="2553299" cy="3024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DF6EE"/>
                </a:solidFill>
                <a:latin typeface="Calibri"/>
              </a:rPr>
              <a:t>Id (PK, string)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2000" y="1346400"/>
            <a:ext cx="2733299" cy="331200"/>
          </a:xfrm>
          <a:prstGeom prst="rect">
            <a:avLst/>
          </a:prstGeom>
          <a:solidFill>
            <a:srgbClr val="322318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0000" y="1368000"/>
            <a:ext cx="2553299" cy="3024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DF6EE"/>
                </a:solidFill>
                <a:latin typeface="Calibri"/>
              </a:rPr>
              <a:t>UserName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2000" y="1677600"/>
            <a:ext cx="2733299" cy="331200"/>
          </a:xfrm>
          <a:prstGeom prst="rect">
            <a:avLst/>
          </a:prstGeom>
          <a:solidFill>
            <a:srgbClr val="422F2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0000" y="1699200"/>
            <a:ext cx="2553299" cy="3024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DF6EE"/>
                </a:solidFill>
                <a:latin typeface="Calibri"/>
              </a:rPr>
              <a:t>Email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000" y="2008800"/>
            <a:ext cx="2733299" cy="331200"/>
          </a:xfrm>
          <a:prstGeom prst="rect">
            <a:avLst/>
          </a:prstGeom>
          <a:solidFill>
            <a:srgbClr val="322318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40000" y="2030400"/>
            <a:ext cx="2553299" cy="3024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DF6EE"/>
                </a:solidFill>
                <a:latin typeface="Calibri"/>
              </a:rPr>
              <a:t>PasswordHash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2000" y="2340000"/>
            <a:ext cx="2733299" cy="331200"/>
          </a:xfrm>
          <a:prstGeom prst="rect">
            <a:avLst/>
          </a:prstGeom>
          <a:solidFill>
            <a:srgbClr val="422F2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0000" y="2361600"/>
            <a:ext cx="2553299" cy="3024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DF6EE"/>
                </a:solidFill>
                <a:latin typeface="Calibri"/>
              </a:rPr>
              <a:t>AvatarUrl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2000" y="2671200"/>
            <a:ext cx="2733299" cy="331200"/>
          </a:xfrm>
          <a:prstGeom prst="rect">
            <a:avLst/>
          </a:prstGeom>
          <a:solidFill>
            <a:srgbClr val="322318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40000" y="2692800"/>
            <a:ext cx="2553299" cy="3024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DF6EE"/>
                </a:solidFill>
                <a:latin typeface="Calibri"/>
              </a:rPr>
              <a:t>CreateAt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45299" y="720000"/>
            <a:ext cx="2733299" cy="295200"/>
          </a:xfrm>
          <a:prstGeom prst="rect">
            <a:avLst/>
          </a:prstGeom>
          <a:solidFill>
            <a:srgbClr val="E86A2E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435299" y="741600"/>
            <a:ext cx="2625299" cy="2592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Categories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45299" y="1015200"/>
            <a:ext cx="2733299" cy="1047600"/>
          </a:xfrm>
          <a:prstGeom prst="rect">
            <a:avLst/>
          </a:prstGeom>
          <a:solidFill>
            <a:srgbClr val="322318"/>
          </a:solidFill>
          <a:ln w="8890">
            <a:solidFill>
              <a:srgbClr val="E86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345299" y="1015200"/>
            <a:ext cx="2733299" cy="331200"/>
          </a:xfrm>
          <a:prstGeom prst="rect">
            <a:avLst/>
          </a:prstGeom>
          <a:solidFill>
            <a:srgbClr val="422F2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453299" y="1036800"/>
            <a:ext cx="2553299" cy="3024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DF6EE"/>
                </a:solidFill>
                <a:latin typeface="Calibri"/>
              </a:rPr>
              <a:t>Id (PK, int)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45299" y="1346400"/>
            <a:ext cx="2733299" cy="331200"/>
          </a:xfrm>
          <a:prstGeom prst="rect">
            <a:avLst/>
          </a:prstGeom>
          <a:solidFill>
            <a:srgbClr val="322318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453299" y="1368000"/>
            <a:ext cx="2553299" cy="3024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DF6EE"/>
                </a:solidFill>
                <a:latin typeface="Calibri"/>
              </a:rPr>
              <a:t>Name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45299" y="1677600"/>
            <a:ext cx="2733299" cy="331200"/>
          </a:xfrm>
          <a:prstGeom prst="rect">
            <a:avLst/>
          </a:prstGeom>
          <a:solidFill>
            <a:srgbClr val="422F2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453299" y="1699200"/>
            <a:ext cx="2553299" cy="3024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DF6EE"/>
                </a:solidFill>
                <a:latin typeface="Calibri"/>
              </a:rPr>
              <a:t>UserId (FK → Users)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58599" y="720000"/>
            <a:ext cx="2733299" cy="295200"/>
          </a:xfrm>
          <a:prstGeom prst="rect">
            <a:avLst/>
          </a:prstGeom>
          <a:solidFill>
            <a:srgbClr val="4CAF50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348599" y="741600"/>
            <a:ext cx="2625299" cy="2592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TodoItems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58599" y="1015200"/>
            <a:ext cx="2733299" cy="2890800"/>
          </a:xfrm>
          <a:prstGeom prst="rect">
            <a:avLst/>
          </a:prstGeom>
          <a:solidFill>
            <a:srgbClr val="322318"/>
          </a:solidFill>
          <a:ln w="889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258599" y="1015200"/>
            <a:ext cx="2733299" cy="315199"/>
          </a:xfrm>
          <a:prstGeom prst="rect">
            <a:avLst/>
          </a:prstGeom>
          <a:solidFill>
            <a:srgbClr val="422F2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366599" y="1036800"/>
            <a:ext cx="2553299" cy="286399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DF6EE"/>
                </a:solidFill>
                <a:latin typeface="Calibri"/>
              </a:rPr>
              <a:t>Id (PK)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58599" y="1330399"/>
            <a:ext cx="2733299" cy="315199"/>
          </a:xfrm>
          <a:prstGeom prst="rect">
            <a:avLst/>
          </a:prstGeom>
          <a:solidFill>
            <a:srgbClr val="322318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366599" y="1351999"/>
            <a:ext cx="2553299" cy="286399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DF6EE"/>
                </a:solidFill>
                <a:latin typeface="Calibri"/>
              </a:rPr>
              <a:t>Title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58599" y="1645599"/>
            <a:ext cx="2733299" cy="315199"/>
          </a:xfrm>
          <a:prstGeom prst="rect">
            <a:avLst/>
          </a:prstGeom>
          <a:solidFill>
            <a:srgbClr val="422F2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366599" y="1667199"/>
            <a:ext cx="2553299" cy="286399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DF6EE"/>
                </a:solidFill>
                <a:latin typeface="Calibri"/>
              </a:rPr>
              <a:t>Description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58599" y="1960799"/>
            <a:ext cx="2733299" cy="315199"/>
          </a:xfrm>
          <a:prstGeom prst="rect">
            <a:avLst/>
          </a:prstGeom>
          <a:solidFill>
            <a:srgbClr val="322318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366599" y="1982399"/>
            <a:ext cx="2553299" cy="286399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DF6EE"/>
                </a:solidFill>
                <a:latin typeface="Calibri"/>
              </a:rPr>
              <a:t>IsCompleted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58599" y="2275999"/>
            <a:ext cx="2733299" cy="315199"/>
          </a:xfrm>
          <a:prstGeom prst="rect">
            <a:avLst/>
          </a:prstGeom>
          <a:solidFill>
            <a:srgbClr val="422F2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366599" y="2297599"/>
            <a:ext cx="2553299" cy="286399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DF6EE"/>
                </a:solidFill>
                <a:latin typeface="Calibri"/>
              </a:rPr>
              <a:t>DueDate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58599" y="2591199"/>
            <a:ext cx="2733299" cy="315199"/>
          </a:xfrm>
          <a:prstGeom prst="rect">
            <a:avLst/>
          </a:prstGeom>
          <a:solidFill>
            <a:srgbClr val="322318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366599" y="2612799"/>
            <a:ext cx="2553299" cy="286399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DF6EE"/>
                </a:solidFill>
                <a:latin typeface="Calibri"/>
              </a:rPr>
              <a:t>Priority (0/1/2)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58599" y="2906399"/>
            <a:ext cx="2733299" cy="315199"/>
          </a:xfrm>
          <a:prstGeom prst="rect">
            <a:avLst/>
          </a:prstGeom>
          <a:solidFill>
            <a:srgbClr val="422F2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366599" y="2928000"/>
            <a:ext cx="2553299" cy="286399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DF6EE"/>
                </a:solidFill>
                <a:latin typeface="Calibri"/>
              </a:rPr>
              <a:t>CreatedAt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58599" y="3221599"/>
            <a:ext cx="2733299" cy="315199"/>
          </a:xfrm>
          <a:prstGeom prst="rect">
            <a:avLst/>
          </a:prstGeom>
          <a:solidFill>
            <a:srgbClr val="322318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366599" y="3243200"/>
            <a:ext cx="2553299" cy="286399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DF6EE"/>
                </a:solidFill>
                <a:latin typeface="Calibri"/>
              </a:rPr>
              <a:t>CategoryId (FK)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58599" y="3536799"/>
            <a:ext cx="2733299" cy="315199"/>
          </a:xfrm>
          <a:prstGeom prst="rect">
            <a:avLst/>
          </a:prstGeom>
          <a:solidFill>
            <a:srgbClr val="422F2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366599" y="3558400"/>
            <a:ext cx="2553299" cy="286399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DF6EE"/>
                </a:solidFill>
                <a:latin typeface="Calibri"/>
              </a:rPr>
              <a:t>UserId (FK)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71899" y="720000"/>
            <a:ext cx="2733299" cy="295200"/>
          </a:xfrm>
          <a:prstGeom prst="rect">
            <a:avLst/>
          </a:prstGeom>
          <a:solidFill>
            <a:srgbClr val="9C27B0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9261899" y="741600"/>
            <a:ext cx="2625299" cy="2592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RefreshTokens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171899" y="1015200"/>
            <a:ext cx="2733299" cy="2041200"/>
          </a:xfrm>
          <a:prstGeom prst="rect">
            <a:avLst/>
          </a:prstGeom>
          <a:solidFill>
            <a:srgbClr val="322318"/>
          </a:solidFill>
          <a:ln w="8890">
            <a:solidFill>
              <a:srgbClr val="9C2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9171899" y="1015200"/>
            <a:ext cx="2733299" cy="331200"/>
          </a:xfrm>
          <a:prstGeom prst="rect">
            <a:avLst/>
          </a:prstGeom>
          <a:solidFill>
            <a:srgbClr val="422F2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9279899" y="1036800"/>
            <a:ext cx="2553299" cy="3024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DF6EE"/>
                </a:solidFill>
                <a:latin typeface="Calibri"/>
              </a:rPr>
              <a:t>Id (PK)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171899" y="1346400"/>
            <a:ext cx="2733299" cy="331200"/>
          </a:xfrm>
          <a:prstGeom prst="rect">
            <a:avLst/>
          </a:prstGeom>
          <a:solidFill>
            <a:srgbClr val="322318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9279899" y="1368000"/>
            <a:ext cx="2553299" cy="3024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DF6EE"/>
                </a:solidFill>
                <a:latin typeface="Calibri"/>
              </a:rPr>
              <a:t>Token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171899" y="1677600"/>
            <a:ext cx="2733299" cy="331200"/>
          </a:xfrm>
          <a:prstGeom prst="rect">
            <a:avLst/>
          </a:prstGeom>
          <a:solidFill>
            <a:srgbClr val="422F2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9279899" y="1699200"/>
            <a:ext cx="2553299" cy="3024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DF6EE"/>
                </a:solidFill>
                <a:latin typeface="Calibri"/>
              </a:rPr>
              <a:t>UserId (FK)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171899" y="2008800"/>
            <a:ext cx="2733299" cy="331200"/>
          </a:xfrm>
          <a:prstGeom prst="rect">
            <a:avLst/>
          </a:prstGeom>
          <a:solidFill>
            <a:srgbClr val="322318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9279899" y="2030400"/>
            <a:ext cx="2553299" cy="3024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DF6EE"/>
                </a:solidFill>
                <a:latin typeface="Calibri"/>
              </a:rPr>
              <a:t>CreatedAt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171899" y="2340000"/>
            <a:ext cx="2733299" cy="331200"/>
          </a:xfrm>
          <a:prstGeom prst="rect">
            <a:avLst/>
          </a:prstGeom>
          <a:solidFill>
            <a:srgbClr val="422F2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9279899" y="2361600"/>
            <a:ext cx="2553299" cy="3024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DF6EE"/>
                </a:solidFill>
                <a:latin typeface="Calibri"/>
              </a:rPr>
              <a:t>ExpiresAt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171899" y="2671200"/>
            <a:ext cx="2733299" cy="331200"/>
          </a:xfrm>
          <a:prstGeom prst="rect">
            <a:avLst/>
          </a:prstGeom>
          <a:solidFill>
            <a:srgbClr val="322318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9279899" y="2692800"/>
            <a:ext cx="2553299" cy="3024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DF6EE"/>
                </a:solidFill>
                <a:latin typeface="Calibri"/>
              </a:rPr>
              <a:t>IsRevoked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32000" y="3941999"/>
            <a:ext cx="11473200" cy="2592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86A2E"/>
                </a:solidFill>
                <a:latin typeface="Calibri"/>
              </a:rPr>
              <a:t>🔗  User 1─N Category   |   Category 1─N TodoItem   |   User 1─N RefreshToken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32000" y="4222799"/>
            <a:ext cx="11473200" cy="2232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B8A28A"/>
                </a:solidFill>
                <a:latin typeface="Calibri"/>
              </a:rPr>
              <a:t>Xóa Category → Cascade xóa TodoItems   |   Xóa User → Restrict (bảo toàn dữ liệu)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32000" y="4500000"/>
            <a:ext cx="11473200" cy="2232000"/>
          </a:xfrm>
          <a:prstGeom prst="rect">
            <a:avLst/>
          </a:prstGeom>
          <a:solidFill>
            <a:srgbClr val="322318"/>
          </a:solidFill>
          <a:ln w="12700">
            <a:solidFill>
              <a:srgbClr val="422F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576000" y="4579200"/>
            <a:ext cx="11113200" cy="2448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6A2E"/>
                </a:solidFill>
                <a:latin typeface="Calibri"/>
              </a:rPr>
              <a:t>📌  Kỹ thuật tầng Data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76000" y="4896000"/>
            <a:ext cx="11041200" cy="2952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DF6EE"/>
                </a:solidFill>
                <a:latin typeface="Calibri"/>
              </a:rPr>
              <a:t>•  EF Core Code-First: Model → Migration → dotnet ef database update → Bảng DB.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76000" y="5212800"/>
            <a:ext cx="11041200" cy="2952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DF6EE"/>
                </a:solidFill>
                <a:latin typeface="Calibri"/>
              </a:rPr>
              <a:t>•  ASP.NET Core Identity: Hash mật khẩu BCrypt, normalize email, quản lý user tích hợp.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76000" y="5529600"/>
            <a:ext cx="11041200" cy="2952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DF6EE"/>
                </a:solidFill>
                <a:latin typeface="Calibri"/>
              </a:rPr>
              <a:t>•  JWT Access (60 phút) + Refresh Token (7 ngày) lưu DB, thu hồi hoàn toàn khi Logout.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76000" y="5846399"/>
            <a:ext cx="11041200" cy="2952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DF6EE"/>
                </a:solidFill>
                <a:latin typeface="Calibri"/>
              </a:rPr>
              <a:t>•  Android: EncryptedSharedPreferences lưu token – mã hóa AES256/RSA, chống root extract.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1A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16000" cy="6858000"/>
          </a:xfrm>
          <a:prstGeom prst="rect">
            <a:avLst/>
          </a:prstGeom>
          <a:solidFill>
            <a:srgbClr val="E86A2E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32000" y="151200"/>
            <a:ext cx="11617199" cy="396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DF6EE"/>
                </a:solidFill>
                <a:latin typeface="Calibri"/>
              </a:rPr>
              <a:t>04  –  CHỨC NĂNG CHÍNH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568800"/>
            <a:ext cx="8640000" cy="25200"/>
          </a:xfrm>
          <a:prstGeom prst="rect">
            <a:avLst/>
          </a:prstGeom>
          <a:solidFill>
            <a:srgbClr val="E86A2E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32000" y="720000"/>
            <a:ext cx="5466599" cy="2430000"/>
          </a:xfrm>
          <a:prstGeom prst="rect">
            <a:avLst/>
          </a:prstGeom>
          <a:solidFill>
            <a:srgbClr val="322318"/>
          </a:solidFill>
          <a:ln w="15240">
            <a:solidFill>
              <a:srgbClr val="219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32000" y="720000"/>
            <a:ext cx="5466599" cy="378000"/>
          </a:xfrm>
          <a:prstGeom prst="rect">
            <a:avLst/>
          </a:prstGeom>
          <a:solidFill>
            <a:srgbClr val="2196F3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57999" y="756000"/>
            <a:ext cx="5286599" cy="306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450" b="1">
                <a:solidFill>
                  <a:srgbClr val="FFFFFF"/>
                </a:solidFill>
                <a:latin typeface="Calibri"/>
              </a:rPr>
              <a:t>🔐  Xác thực &amp; Bảo mật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1188000"/>
            <a:ext cx="5250599" cy="540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DF6EE"/>
                </a:solidFill>
                <a:latin typeface="Calibri"/>
              </a:rPr>
              <a:t>•  Đăng ký / Đăng nhập (Email hoặc Username)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1781999"/>
            <a:ext cx="5250599" cy="540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DF6EE"/>
                </a:solidFill>
                <a:latin typeface="Calibri"/>
              </a:rPr>
              <a:t>•  JWT Access Token + Refresh Token tự làm mới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00" y="2376000"/>
            <a:ext cx="5250599" cy="540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DF6EE"/>
                </a:solidFill>
                <a:latin typeface="Calibri"/>
              </a:rPr>
              <a:t>•  Logout thu hồi token, xóa dữ liệu local an toàn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78599" y="720000"/>
            <a:ext cx="5466599" cy="2430000"/>
          </a:xfrm>
          <a:prstGeom prst="rect">
            <a:avLst/>
          </a:prstGeom>
          <a:solidFill>
            <a:srgbClr val="322318"/>
          </a:solidFill>
          <a:ln w="15240">
            <a:solidFill>
              <a:srgbClr val="E86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078599" y="720000"/>
            <a:ext cx="5466599" cy="378000"/>
          </a:xfrm>
          <a:prstGeom prst="rect">
            <a:avLst/>
          </a:prstGeom>
          <a:solidFill>
            <a:srgbClr val="E86A2E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04600" y="756000"/>
            <a:ext cx="5286599" cy="306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450" b="1">
                <a:solidFill>
                  <a:srgbClr val="FFFFFF"/>
                </a:solidFill>
                <a:latin typeface="Calibri"/>
              </a:rPr>
              <a:t>📋  Quản lý Công việc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2599" y="1188000"/>
            <a:ext cx="5250599" cy="540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DF6EE"/>
                </a:solidFill>
                <a:latin typeface="Calibri"/>
              </a:rPr>
              <a:t>•  Thêm / Sửa / Xóa / Đánh dấu hoàn thành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2599" y="1781999"/>
            <a:ext cx="5250599" cy="540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DF6EE"/>
                </a:solidFill>
                <a:latin typeface="Calibri"/>
              </a:rPr>
              <a:t>•  3 mức độ ưu tiên: Thấp / Trung bình / Cao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22599" y="2376000"/>
            <a:ext cx="5250599" cy="540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DF6EE"/>
                </a:solidFill>
                <a:latin typeface="Calibri"/>
              </a:rPr>
              <a:t>•  Lọc theo ngày, danh mục, trạng thái hoàn thành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2000" y="3311999"/>
            <a:ext cx="5466599" cy="2430000"/>
          </a:xfrm>
          <a:prstGeom prst="rect">
            <a:avLst/>
          </a:prstGeom>
          <a:solidFill>
            <a:srgbClr val="322318"/>
          </a:solidFill>
          <a:ln w="1524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32000" y="3311999"/>
            <a:ext cx="5466599" cy="378000"/>
          </a:xfrm>
          <a:prstGeom prst="rect">
            <a:avLst/>
          </a:prstGeom>
          <a:solidFill>
            <a:srgbClr val="4CAF50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57999" y="3347999"/>
            <a:ext cx="5286599" cy="306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450" b="1">
                <a:solidFill>
                  <a:srgbClr val="FFFFFF"/>
                </a:solidFill>
                <a:latin typeface="Calibri"/>
              </a:rPr>
              <a:t>🗂️  Quản lý Danh mục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6000" y="3780000"/>
            <a:ext cx="5250599" cy="540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DF6EE"/>
                </a:solidFill>
                <a:latin typeface="Calibri"/>
              </a:rPr>
              <a:t>•  Tạo / Đổi tên / Xóa danh mục tùy chỉnh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6000" y="4374000"/>
            <a:ext cx="5250599" cy="540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DF6EE"/>
                </a:solidFill>
                <a:latin typeface="Calibri"/>
              </a:rPr>
              <a:t>•  Xem Todo trong từng danh mục, search inline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6000" y="4968000"/>
            <a:ext cx="5250599" cy="540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DF6EE"/>
                </a:solidFill>
                <a:latin typeface="Calibri"/>
              </a:rPr>
              <a:t>•  Xóa Category → Cascade xóa Todo liên quan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78599" y="3311999"/>
            <a:ext cx="5466599" cy="2430000"/>
          </a:xfrm>
          <a:prstGeom prst="rect">
            <a:avLst/>
          </a:prstGeom>
          <a:solidFill>
            <a:srgbClr val="322318"/>
          </a:solidFill>
          <a:ln w="15240">
            <a:solidFill>
              <a:srgbClr val="F443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078599" y="3311999"/>
            <a:ext cx="5466599" cy="378000"/>
          </a:xfrm>
          <a:prstGeom prst="rect">
            <a:avLst/>
          </a:prstGeom>
          <a:solidFill>
            <a:srgbClr val="F44336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204600" y="3347999"/>
            <a:ext cx="5286599" cy="306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450" b="1">
                <a:solidFill>
                  <a:srgbClr val="FFFFFF"/>
                </a:solidFill>
                <a:latin typeface="Calibri"/>
              </a:rPr>
              <a:t>⏰  Báo thức &amp; Nhắc nhở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22599" y="3780000"/>
            <a:ext cx="5250599" cy="540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DF6EE"/>
                </a:solidFill>
                <a:latin typeface="Calibri"/>
              </a:rPr>
              <a:t>•  Đặt giờ nhắc theo DueDate của từng task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22599" y="4374000"/>
            <a:ext cx="5250599" cy="540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DF6EE"/>
                </a:solidFill>
                <a:latin typeface="Calibri"/>
              </a:rPr>
              <a:t>•  Màn hình báo thức toàn màn hình tự đánh thức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22599" y="4968000"/>
            <a:ext cx="5250599" cy="540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DF6EE"/>
                </a:solidFill>
                <a:latin typeface="Calibri"/>
              </a:rPr>
              <a:t>•  Hoạt động khi app chạy ngầm / màn hình khóa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1A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16000" cy="6858000"/>
          </a:xfrm>
          <a:prstGeom prst="rect">
            <a:avLst/>
          </a:prstGeom>
          <a:solidFill>
            <a:srgbClr val="E86A2E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32000" y="151200"/>
            <a:ext cx="11617199" cy="396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DF6EE"/>
                </a:solidFill>
                <a:latin typeface="Calibri"/>
              </a:rPr>
              <a:t>05  –  TÍNH NĂNG BÁO THỨC THÔNG MINH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568800"/>
            <a:ext cx="8640000" cy="25200"/>
          </a:xfrm>
          <a:prstGeom prst="rect">
            <a:avLst/>
          </a:prstGeom>
          <a:solidFill>
            <a:srgbClr val="E86A2E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32000" y="684000"/>
            <a:ext cx="6480000" cy="251999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E86A2E"/>
                </a:solidFill>
                <a:latin typeface="Calibri"/>
              </a:rPr>
              <a:t>🔄  LUỒNG 5 BƯỚC</a:t>
            </a:r>
          </a:p>
        </p:txBody>
      </p:sp>
      <p:sp>
        <p:nvSpPr>
          <p:cNvPr id="6" name="Rectangle 5"/>
          <p:cNvSpPr/>
          <p:nvPr/>
        </p:nvSpPr>
        <p:spPr>
          <a:xfrm>
            <a:off x="432000" y="990000"/>
            <a:ext cx="2179439" cy="1440000"/>
          </a:xfrm>
          <a:prstGeom prst="rect">
            <a:avLst/>
          </a:prstGeom>
          <a:solidFill>
            <a:srgbClr val="322318"/>
          </a:solidFill>
          <a:ln w="15240">
            <a:solidFill>
              <a:srgbClr val="219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32000" y="990000"/>
            <a:ext cx="2179439" cy="280800"/>
          </a:xfrm>
          <a:prstGeom prst="rect">
            <a:avLst/>
          </a:prstGeom>
          <a:solidFill>
            <a:srgbClr val="2196F3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3999" y="1007999"/>
            <a:ext cx="2071439" cy="2448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FFFFFF"/>
                </a:solidFill>
                <a:latin typeface="Calibri"/>
              </a:rPr>
              <a:t>Bước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3999" y="1303200"/>
            <a:ext cx="2071439" cy="666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ctr"/>
            <a:r>
              <a:rPr sz="1150" b="0">
                <a:solidFill>
                  <a:srgbClr val="FDF6EE"/>
                </a:solidFill>
                <a:latin typeface="Calibri"/>
              </a:rPr>
              <a:t>Tạo Todo
+ DueDate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36639" y="1475999"/>
            <a:ext cx="125999" cy="2448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6A2E"/>
                </a:solidFill>
                <a:latin typeface="Calibri"/>
              </a:rPr>
              <a:t>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55439" y="990000"/>
            <a:ext cx="2179439" cy="1440000"/>
          </a:xfrm>
          <a:prstGeom prst="rect">
            <a:avLst/>
          </a:prstGeom>
          <a:solidFill>
            <a:srgbClr val="322318"/>
          </a:solidFill>
          <a:ln w="15240">
            <a:solidFill>
              <a:srgbClr val="E86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755439" y="990000"/>
            <a:ext cx="2179439" cy="280800"/>
          </a:xfrm>
          <a:prstGeom prst="rect">
            <a:avLst/>
          </a:prstGeom>
          <a:solidFill>
            <a:srgbClr val="E86A2E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827439" y="1007999"/>
            <a:ext cx="2071439" cy="2448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FFFFFF"/>
                </a:solidFill>
                <a:latin typeface="Calibri"/>
              </a:rPr>
              <a:t>Bước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27439" y="1303200"/>
            <a:ext cx="2071439" cy="666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ctr"/>
            <a:r>
              <a:rPr sz="1150" b="0">
                <a:solidFill>
                  <a:srgbClr val="FDF6EE"/>
                </a:solidFill>
                <a:latin typeface="Calibri"/>
              </a:rPr>
              <a:t>Reminder
Scheduler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60079" y="1475999"/>
            <a:ext cx="125999" cy="2448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6A2E"/>
                </a:solidFill>
                <a:latin typeface="Calibri"/>
              </a:rPr>
              <a:t>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78879" y="990000"/>
            <a:ext cx="2179439" cy="1440000"/>
          </a:xfrm>
          <a:prstGeom prst="rect">
            <a:avLst/>
          </a:prstGeom>
          <a:solidFill>
            <a:srgbClr val="322318"/>
          </a:solidFill>
          <a:ln w="1524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078879" y="990000"/>
            <a:ext cx="2179439" cy="280800"/>
          </a:xfrm>
          <a:prstGeom prst="rect">
            <a:avLst/>
          </a:prstGeom>
          <a:solidFill>
            <a:srgbClr val="4CAF50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150879" y="1007999"/>
            <a:ext cx="2071439" cy="2448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FFFFFF"/>
                </a:solidFill>
                <a:latin typeface="Calibri"/>
              </a:rPr>
              <a:t>Bước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50879" y="1303200"/>
            <a:ext cx="2071439" cy="666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ctr"/>
            <a:r>
              <a:rPr sz="1150" b="0">
                <a:solidFill>
                  <a:srgbClr val="FDF6EE"/>
                </a:solidFill>
                <a:latin typeface="Calibri"/>
              </a:rPr>
              <a:t>AlarmManager
kích hoạt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83519" y="1475999"/>
            <a:ext cx="125999" cy="2448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6A2E"/>
                </a:solidFill>
                <a:latin typeface="Calibri"/>
              </a:rPr>
              <a:t>▶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02319" y="990000"/>
            <a:ext cx="2179439" cy="1440000"/>
          </a:xfrm>
          <a:prstGeom prst="rect">
            <a:avLst/>
          </a:prstGeom>
          <a:solidFill>
            <a:srgbClr val="322318"/>
          </a:solidFill>
          <a:ln w="15240">
            <a:solidFill>
              <a:srgbClr val="9C2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402319" y="990000"/>
            <a:ext cx="2179439" cy="280800"/>
          </a:xfrm>
          <a:prstGeom prst="rect">
            <a:avLst/>
          </a:prstGeom>
          <a:solidFill>
            <a:srgbClr val="9C27B0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474319" y="1007999"/>
            <a:ext cx="2071439" cy="2448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FFFFFF"/>
                </a:solidFill>
                <a:latin typeface="Calibri"/>
              </a:rPr>
              <a:t>Bước 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74319" y="1303200"/>
            <a:ext cx="2071439" cy="666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ctr"/>
            <a:r>
              <a:rPr sz="1150" b="0">
                <a:solidFill>
                  <a:srgbClr val="FDF6EE"/>
                </a:solidFill>
                <a:latin typeface="Calibri"/>
              </a:rPr>
              <a:t>Notification
+fullScreen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6959" y="1475999"/>
            <a:ext cx="125999" cy="2448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6A2E"/>
                </a:solidFill>
                <a:latin typeface="Calibri"/>
              </a:rPr>
              <a:t>▶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25759" y="990000"/>
            <a:ext cx="2179439" cy="1440000"/>
          </a:xfrm>
          <a:prstGeom prst="rect">
            <a:avLst/>
          </a:prstGeom>
          <a:solidFill>
            <a:srgbClr val="322318"/>
          </a:solidFill>
          <a:ln w="15240">
            <a:solidFill>
              <a:srgbClr val="F443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9725759" y="990000"/>
            <a:ext cx="2179439" cy="280800"/>
          </a:xfrm>
          <a:prstGeom prst="rect">
            <a:avLst/>
          </a:prstGeom>
          <a:solidFill>
            <a:srgbClr val="F44336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797759" y="1007999"/>
            <a:ext cx="2071439" cy="2448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FFFFFF"/>
                </a:solidFill>
                <a:latin typeface="Calibri"/>
              </a:rPr>
              <a:t>Bước 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97759" y="1303200"/>
            <a:ext cx="2071439" cy="666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ctr"/>
            <a:r>
              <a:rPr sz="1150" b="0">
                <a:solidFill>
                  <a:srgbClr val="FDF6EE"/>
                </a:solidFill>
                <a:latin typeface="Calibri"/>
              </a:rPr>
              <a:t>AlarmActivity
toàn màn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2000" y="2592000"/>
            <a:ext cx="9000000" cy="2592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FFC107"/>
                </a:solidFill>
                <a:latin typeface="Calibri"/>
              </a:rPr>
              <a:t>⚠️  THÁCH THỨC &amp; GIẢI PHÁP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2000" y="2916000"/>
            <a:ext cx="5646599" cy="3384000"/>
          </a:xfrm>
          <a:prstGeom prst="rect">
            <a:avLst/>
          </a:prstGeom>
          <a:solidFill>
            <a:srgbClr val="322318"/>
          </a:solidFill>
          <a:ln w="1016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76000" y="3006000"/>
            <a:ext cx="5430599" cy="503999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C107"/>
                </a:solidFill>
                <a:latin typeface="Calibri"/>
              </a:rPr>
              <a:t>Vấn đề 1:
Realme/OPPO đóng băng app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6000" y="3546000"/>
            <a:ext cx="5430599" cy="2628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FDF6EE"/>
                </a:solidFill>
                <a:latin typeface="Calibri"/>
              </a:rPr>
              <a:t>OplusHansManager → freeze uid → AlarmManager bị chặn
✔  Giải pháp: fullScreenIntent + IMPORTANCE_HIGH Channel
    → Hệ thống bắt buộc hiển thị, vượt cơ chế đóng băng
    → Cấp quyền 'Tự khởi chạy' + 'Không hạn chế pin'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58599" y="2916000"/>
            <a:ext cx="5646599" cy="3384000"/>
          </a:xfrm>
          <a:prstGeom prst="rect">
            <a:avLst/>
          </a:prstGeom>
          <a:solidFill>
            <a:srgbClr val="322318"/>
          </a:solidFill>
          <a:ln w="1016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402599" y="3006000"/>
            <a:ext cx="5430599" cy="503999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C107"/>
                </a:solidFill>
                <a:latin typeface="Calibri"/>
              </a:rPr>
              <a:t>Vấn đề 2:
Độ trễ đồng bộ API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2599" y="3546000"/>
            <a:ext cx="5430599" cy="2628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FDF6EE"/>
                </a:solidFill>
                <a:latin typeface="Calibri"/>
              </a:rPr>
              <a:t>Tạo task 20:30:50 → API trả về 20:31:10 (đã qua giờ)
✔  Giải pháp: Grace Period 3 phút
    → Nếu trễ &lt; 3 phút → kích hoạt báo ngay lập tức
    → Đảm bảo không bỏ lỡ thông báo quan trọng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1A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16000" cy="6858000"/>
          </a:xfrm>
          <a:prstGeom prst="rect">
            <a:avLst/>
          </a:prstGeom>
          <a:solidFill>
            <a:srgbClr val="E86A2E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32000" y="151200"/>
            <a:ext cx="11617199" cy="396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DF6EE"/>
                </a:solidFill>
                <a:latin typeface="Calibri"/>
              </a:rPr>
              <a:t>06  –  GIAO DIỆN UI/UX &amp; MICRO-INTERACTIONS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568800"/>
            <a:ext cx="8640000" cy="25200"/>
          </a:xfrm>
          <a:prstGeom prst="rect">
            <a:avLst/>
          </a:prstGeom>
          <a:solidFill>
            <a:srgbClr val="E86A2E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32000" y="720000"/>
            <a:ext cx="3704399" cy="1872000"/>
          </a:xfrm>
          <a:prstGeom prst="rect">
            <a:avLst/>
          </a:prstGeom>
          <a:solidFill>
            <a:srgbClr val="322318"/>
          </a:solidFill>
          <a:ln w="15240">
            <a:solidFill>
              <a:srgbClr val="E86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32000" y="720000"/>
            <a:ext cx="3704399" cy="316800"/>
          </a:xfrm>
          <a:prstGeom prst="rect">
            <a:avLst/>
          </a:prstGeom>
          <a:solidFill>
            <a:srgbClr val="E86A2E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0000" y="737999"/>
            <a:ext cx="3560399" cy="2808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FFFFFF"/>
                </a:solidFill>
                <a:latin typeface="Calibri"/>
              </a:rPr>
              <a:t>🌙  Dark Mode
Theme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00" y="1098000"/>
            <a:ext cx="3524399" cy="1368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FDF6EE"/>
                </a:solidFill>
                <a:latin typeface="Calibri"/>
              </a:rPr>
              <a:t>Nền nâu tối cao cấp (#251A11)
Card #322318 tạo chiều sâu
Không gây mỏi mắt khi dùng lâu</a:t>
            </a:r>
          </a:p>
        </p:txBody>
      </p:sp>
      <p:sp>
        <p:nvSpPr>
          <p:cNvPr id="9" name="Rectangle 8"/>
          <p:cNvSpPr/>
          <p:nvPr/>
        </p:nvSpPr>
        <p:spPr>
          <a:xfrm>
            <a:off x="4316399" y="720000"/>
            <a:ext cx="3704399" cy="1872000"/>
          </a:xfrm>
          <a:prstGeom prst="rect">
            <a:avLst/>
          </a:prstGeom>
          <a:solidFill>
            <a:srgbClr val="322318"/>
          </a:solidFill>
          <a:ln w="15240">
            <a:solidFill>
              <a:srgbClr val="219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16399" y="720000"/>
            <a:ext cx="3704399" cy="316800"/>
          </a:xfrm>
          <a:prstGeom prst="rect">
            <a:avLst/>
          </a:prstGeom>
          <a:solidFill>
            <a:srgbClr val="2196F3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424399" y="737999"/>
            <a:ext cx="3560399" cy="2808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FFFFFF"/>
                </a:solidFill>
                <a:latin typeface="Calibri"/>
              </a:rPr>
              <a:t>🎯  Bounce Click
Animation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4399" y="1098000"/>
            <a:ext cx="3524399" cy="1368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FDF6EE"/>
                </a:solidFill>
                <a:latin typeface="Calibri"/>
              </a:rPr>
              <a:t>Spring vật lý khi nhấn nút
scale 1.0→0.95→1.0 đàn hồi
Áp dụng toàn bộ tương tác chạm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799" y="720000"/>
            <a:ext cx="3704399" cy="1872000"/>
          </a:xfrm>
          <a:prstGeom prst="rect">
            <a:avLst/>
          </a:prstGeom>
          <a:solidFill>
            <a:srgbClr val="322318"/>
          </a:solidFill>
          <a:ln w="1524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200799" y="720000"/>
            <a:ext cx="3704399" cy="316800"/>
          </a:xfrm>
          <a:prstGeom prst="rect">
            <a:avLst/>
          </a:prstGeom>
          <a:solidFill>
            <a:srgbClr val="4CAF50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08799" y="737999"/>
            <a:ext cx="3560399" cy="2808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FFFFFF"/>
                </a:solidFill>
                <a:latin typeface="Calibri"/>
              </a:rPr>
              <a:t>🃏  Priority
Glow Cards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8799" y="1098000"/>
            <a:ext cx="3524399" cy="1368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FDF6EE"/>
                </a:solidFill>
                <a:latin typeface="Calibri"/>
              </a:rPr>
              <a:t>Nền pastel đổi theo ưu tiên:
Xanh/Vàng/Đỏ + viền gradient
Cảm giác khẩn cấp trực quan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2000" y="2754000"/>
            <a:ext cx="3704399" cy="1872000"/>
          </a:xfrm>
          <a:prstGeom prst="rect">
            <a:avLst/>
          </a:prstGeom>
          <a:solidFill>
            <a:srgbClr val="322318"/>
          </a:solidFill>
          <a:ln w="15240">
            <a:solidFill>
              <a:srgbClr val="9C2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32000" y="2754000"/>
            <a:ext cx="3704399" cy="316800"/>
          </a:xfrm>
          <a:prstGeom prst="rect">
            <a:avLst/>
          </a:prstGeom>
          <a:solidFill>
            <a:srgbClr val="9C27B0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40000" y="2772000"/>
            <a:ext cx="3560399" cy="2808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FFFFFF"/>
                </a:solidFill>
                <a:latin typeface="Calibri"/>
              </a:rPr>
              <a:t>🏗️  Jetpack
Compose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0000" y="3132000"/>
            <a:ext cx="3524399" cy="1368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FDF6EE"/>
                </a:solidFill>
                <a:latin typeface="Calibri"/>
              </a:rPr>
              <a:t>100% Declarative UI
MVVM + StateFlow reactive
Không dùng XML layout cũ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16399" y="2754000"/>
            <a:ext cx="3704399" cy="1872000"/>
          </a:xfrm>
          <a:prstGeom prst="rect">
            <a:avLst/>
          </a:prstGeom>
          <a:solidFill>
            <a:srgbClr val="322318"/>
          </a:solidFill>
          <a:ln w="1524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316399" y="2754000"/>
            <a:ext cx="3704399" cy="316800"/>
          </a:xfrm>
          <a:prstGeom prst="rect">
            <a:avLst/>
          </a:prstGeom>
          <a:solidFill>
            <a:srgbClr val="FFC107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424399" y="2772000"/>
            <a:ext cx="3560399" cy="2808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FFFFFF"/>
                </a:solidFill>
                <a:latin typeface="Calibri"/>
              </a:rPr>
              <a:t>🔍  Tìm kiếm
thông minh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24399" y="3132000"/>
            <a:ext cx="3524399" cy="1368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FDF6EE"/>
                </a:solidFill>
                <a:latin typeface="Calibri"/>
              </a:rPr>
              <a:t>Filter todo theo tiêu đề
Calendar picker chọn ngày
Category search inline riêng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00799" y="2754000"/>
            <a:ext cx="3704399" cy="1872000"/>
          </a:xfrm>
          <a:prstGeom prst="rect">
            <a:avLst/>
          </a:prstGeom>
          <a:solidFill>
            <a:srgbClr val="322318"/>
          </a:solidFill>
          <a:ln w="15240">
            <a:solidFill>
              <a:srgbClr val="F443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200799" y="2754000"/>
            <a:ext cx="3704399" cy="316800"/>
          </a:xfrm>
          <a:prstGeom prst="rect">
            <a:avLst/>
          </a:prstGeom>
          <a:solidFill>
            <a:srgbClr val="F44336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308799" y="2772000"/>
            <a:ext cx="3560399" cy="2808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FFFFFF"/>
                </a:solidFill>
                <a:latin typeface="Calibri"/>
              </a:rPr>
              <a:t>📱  Navigation
Material 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08799" y="3132000"/>
            <a:ext cx="3524399" cy="1368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FDF6EE"/>
                </a:solidFill>
                <a:latin typeface="Calibri"/>
              </a:rPr>
              <a:t>Bottom Nav 4 tab chính
LazyColumn key animation
Scaffold + MD3 chuẩn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1A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16000" cy="6858000"/>
          </a:xfrm>
          <a:prstGeom prst="rect">
            <a:avLst/>
          </a:prstGeom>
          <a:solidFill>
            <a:srgbClr val="E86A2E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32000" y="151200"/>
            <a:ext cx="11617199" cy="396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DF6EE"/>
                </a:solidFill>
                <a:latin typeface="Calibri"/>
              </a:rPr>
              <a:t>07  –  GIỚI THIỆU CODE – BACKEND (JWT &amp; AuthService)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568800"/>
            <a:ext cx="8640000" cy="25200"/>
          </a:xfrm>
          <a:prstGeom prst="rect">
            <a:avLst/>
          </a:prstGeom>
          <a:solidFill>
            <a:srgbClr val="E86A2E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32000" y="720000"/>
            <a:ext cx="5580000" cy="5328000"/>
          </a:xfrm>
          <a:prstGeom prst="rect">
            <a:avLst/>
          </a:prstGeom>
          <a:solidFill>
            <a:srgbClr val="322318"/>
          </a:solidFill>
          <a:ln w="10160">
            <a:solidFill>
              <a:srgbClr val="219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0000" y="756000"/>
            <a:ext cx="5400000" cy="2592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2196F3"/>
                </a:solidFill>
                <a:latin typeface="Calibri"/>
              </a:rPr>
              <a:t>🔐  Tạo JWT Access Token</a:t>
            </a:r>
          </a:p>
        </p:txBody>
      </p:sp>
      <p:sp>
        <p:nvSpPr>
          <p:cNvPr id="7" name="Rectangle 6"/>
          <p:cNvSpPr/>
          <p:nvPr/>
        </p:nvSpPr>
        <p:spPr>
          <a:xfrm>
            <a:off x="503999" y="1044000"/>
            <a:ext cx="5436000" cy="4968000"/>
          </a:xfrm>
          <a:prstGeom prst="rect">
            <a:avLst/>
          </a:prstGeom>
          <a:solidFill>
            <a:srgbClr val="1C2733"/>
          </a:solidFill>
          <a:ln w="10160">
            <a:solidFill>
              <a:srgbClr val="4A5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3999" y="1044000"/>
            <a:ext cx="5436000" cy="151200"/>
          </a:xfrm>
          <a:prstGeom prst="rect">
            <a:avLst/>
          </a:prstGeom>
          <a:solidFill>
            <a:srgbClr val="28323E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76000" y="1054800"/>
            <a:ext cx="1080000" cy="1296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09090"/>
                </a:solidFill>
                <a:latin typeface="Courier New"/>
              </a:rPr>
              <a:t>● ● 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000" y="1231200"/>
            <a:ext cx="5256000" cy="4734000"/>
          </a:xfrm>
          <a:prstGeom prst="rect">
            <a:avLst/>
          </a:prstGeom>
          <a:noFill/>
          <a:ln>
            <a:solidFill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>
                <a:solidFill>
                  <a:srgbClr val="6BB3FF"/>
                </a:solidFill>
                <a:latin typeface="Courier New"/>
              </a:rPr>
              <a:t>private string </a:t>
            </a:r>
            <a:r>
              <a:rPr sz="1019">
                <a:solidFill>
                  <a:srgbClr val="E8E8E8"/>
                </a:solidFill>
                <a:latin typeface="Courier New"/>
              </a:rPr>
              <a:t>GenerateJwtToken(User user)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>
                <a:solidFill>
                  <a:srgbClr val="E8E8E8"/>
                </a:solidFill>
                <a:latin typeface="Courier New"/>
              </a:rPr>
              <a:t>{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>
                <a:solidFill>
                  <a:srgbClr val="6BB3FF"/>
                </a:solidFill>
                <a:latin typeface="Courier New"/>
              </a:rPr>
              <a:t>  var </a:t>
            </a:r>
            <a:r>
              <a:rPr sz="1019">
                <a:solidFill>
                  <a:srgbClr val="E8E8E8"/>
                </a:solidFill>
                <a:latin typeface="Courier New"/>
              </a:rPr>
              <a:t>claims = new[]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>
                <a:solidFill>
                  <a:srgbClr val="E8E8E8"/>
                </a:solidFill>
                <a:latin typeface="Courier New"/>
              </a:rPr>
              <a:t>  {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>
                <a:solidFill>
                  <a:srgbClr val="E8E8E8"/>
                </a:solidFill>
                <a:latin typeface="Courier New"/>
              </a:rPr>
              <a:t>    new Claim(</a:t>
            </a:r>
            <a:r>
              <a:rPr sz="1019">
                <a:solidFill>
                  <a:srgbClr val="FFB080"/>
                </a:solidFill>
                <a:latin typeface="Courier New"/>
              </a:rPr>
              <a:t>ClaimTypes.NameIdentifier</a:t>
            </a:r>
            <a:r>
              <a:rPr sz="1019">
                <a:solidFill>
                  <a:srgbClr val="E8E8E8"/>
                </a:solidFill>
                <a:latin typeface="Courier New"/>
              </a:rPr>
              <a:t>, user.Id),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>
                <a:solidFill>
                  <a:srgbClr val="E8E8E8"/>
                </a:solidFill>
                <a:latin typeface="Courier New"/>
              </a:rPr>
              <a:t>    new Claim(</a:t>
            </a:r>
            <a:r>
              <a:rPr sz="1019">
                <a:solidFill>
                  <a:srgbClr val="FFB080"/>
                </a:solidFill>
                <a:latin typeface="Courier New"/>
              </a:rPr>
              <a:t>ClaimTypes.Email</a:t>
            </a:r>
            <a:r>
              <a:rPr sz="1019">
                <a:solidFill>
                  <a:srgbClr val="E8E8E8"/>
                </a:solidFill>
                <a:latin typeface="Courier New"/>
              </a:rPr>
              <a:t>, user.Email),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>
                <a:solidFill>
                  <a:srgbClr val="E8E8E8"/>
                </a:solidFill>
                <a:latin typeface="Courier New"/>
              </a:rPr>
              <a:t>  };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>
                <a:solidFill>
                  <a:srgbClr val="6BB3FF"/>
                </a:solidFill>
                <a:latin typeface="Courier New"/>
              </a:rPr>
              <a:t>  var </a:t>
            </a:r>
            <a:r>
              <a:rPr sz="1019">
                <a:solidFill>
                  <a:srgbClr val="E8E8E8"/>
                </a:solidFill>
                <a:latin typeface="Courier New"/>
              </a:rPr>
              <a:t>key </a:t>
            </a:r>
            <a:r>
              <a:rPr sz="1019">
                <a:solidFill>
                  <a:srgbClr val="6BB3FF"/>
                </a:solidFill>
                <a:latin typeface="Courier New"/>
              </a:rPr>
              <a:t>= new </a:t>
            </a:r>
            <a:r>
              <a:rPr sz="1019">
                <a:solidFill>
                  <a:srgbClr val="5EDFC8"/>
                </a:solidFill>
                <a:latin typeface="Courier New"/>
              </a:rPr>
              <a:t>SymmetricSecurityKey</a:t>
            </a:r>
            <a:r>
              <a:rPr sz="1019">
                <a:solidFill>
                  <a:srgbClr val="E8E8E8"/>
                </a:solidFill>
                <a:latin typeface="Courier New"/>
              </a:rPr>
              <a:t>(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>
                <a:solidFill>
                  <a:srgbClr val="E8E8E8"/>
                </a:solidFill>
                <a:latin typeface="Courier New"/>
              </a:rPr>
              <a:t>        Encoding.UTF8.GetBytes(secretKey));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>
                <a:solidFill>
                  <a:srgbClr val="6BB3FF"/>
                </a:solidFill>
                <a:latin typeface="Courier New"/>
              </a:rPr>
              <a:t>  var </a:t>
            </a:r>
            <a:r>
              <a:rPr sz="1019">
                <a:solidFill>
                  <a:srgbClr val="E8E8E8"/>
                </a:solidFill>
                <a:latin typeface="Courier New"/>
              </a:rPr>
              <a:t>token </a:t>
            </a:r>
            <a:r>
              <a:rPr sz="1019">
                <a:solidFill>
                  <a:srgbClr val="6BB3FF"/>
                </a:solidFill>
                <a:latin typeface="Courier New"/>
              </a:rPr>
              <a:t>= new </a:t>
            </a:r>
            <a:r>
              <a:rPr sz="1019">
                <a:solidFill>
                  <a:srgbClr val="5EDFC8"/>
                </a:solidFill>
                <a:latin typeface="Courier New"/>
              </a:rPr>
              <a:t>JwtSecurityToken</a:t>
            </a:r>
            <a:r>
              <a:rPr sz="1019">
                <a:solidFill>
                  <a:srgbClr val="E8E8E8"/>
                </a:solidFill>
                <a:latin typeface="Courier New"/>
              </a:rPr>
              <a:t>(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>
                <a:solidFill>
                  <a:srgbClr val="E8E8E8"/>
                </a:solidFill>
                <a:latin typeface="Courier New"/>
              </a:rPr>
              <a:t>    issuer: jwtSettings[</a:t>
            </a:r>
            <a:r>
              <a:rPr sz="1019">
                <a:solidFill>
                  <a:srgbClr val="FFB080"/>
                </a:solidFill>
                <a:latin typeface="Courier New"/>
              </a:rPr>
              <a:t>"Issuer"</a:t>
            </a:r>
            <a:r>
              <a:rPr sz="1019">
                <a:solidFill>
                  <a:srgbClr val="E8E8E8"/>
                </a:solidFill>
                <a:latin typeface="Courier New"/>
              </a:rPr>
              <a:t>],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>
                <a:solidFill>
                  <a:srgbClr val="E8E8E8"/>
                </a:solidFill>
                <a:latin typeface="Courier New"/>
              </a:rPr>
              <a:t>    expires: DateTime.UtcNow.AddMinutes(</a:t>
            </a:r>
            <a:r>
              <a:rPr sz="1019">
                <a:solidFill>
                  <a:srgbClr val="BFDEB5"/>
                </a:solidFill>
                <a:latin typeface="Courier New"/>
              </a:rPr>
              <a:t>60</a:t>
            </a:r>
            <a:r>
              <a:rPr sz="1019">
                <a:solidFill>
                  <a:srgbClr val="E8E8E8"/>
                </a:solidFill>
                <a:latin typeface="Courier New"/>
              </a:rPr>
              <a:t>),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>
                <a:solidFill>
                  <a:srgbClr val="E8E8E8"/>
                </a:solidFill>
                <a:latin typeface="Courier New"/>
              </a:rPr>
              <a:t>    signingCredentials: creds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>
                <a:solidFill>
                  <a:srgbClr val="E8E8E8"/>
                </a:solidFill>
                <a:latin typeface="Courier New"/>
              </a:rPr>
              <a:t>  );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>
                <a:solidFill>
                  <a:srgbClr val="6BB3FF"/>
                </a:solidFill>
                <a:latin typeface="Courier New"/>
              </a:rPr>
              <a:t>  return new </a:t>
            </a:r>
            <a:r>
              <a:rPr sz="1019">
                <a:solidFill>
                  <a:srgbClr val="5EDFC8"/>
                </a:solidFill>
                <a:latin typeface="Courier New"/>
              </a:rPr>
              <a:t>JwtSecurityTokenHandler</a:t>
            </a:r>
            <a:r>
              <a:rPr sz="1019">
                <a:solidFill>
                  <a:srgbClr val="E8E8E8"/>
                </a:solidFill>
                <a:latin typeface="Courier New"/>
              </a:rPr>
              <a:t>().WriteToken(token);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>
                <a:solidFill>
                  <a:srgbClr val="E8E8E8"/>
                </a:solidFill>
                <a:latin typeface="Courier New"/>
              </a:rPr>
              <a:t>}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2000" y="720000"/>
            <a:ext cx="5688000" cy="5328000"/>
          </a:xfrm>
          <a:prstGeom prst="rect">
            <a:avLst/>
          </a:prstGeom>
          <a:solidFill>
            <a:srgbClr val="322318"/>
          </a:solidFill>
          <a:ln w="10160">
            <a:solidFill>
              <a:srgbClr val="E86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00000" y="756000"/>
            <a:ext cx="5400000" cy="2592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E86A2E"/>
                </a:solidFill>
                <a:latin typeface="Calibri"/>
              </a:rPr>
              <a:t>📥  AuthService.Login() – Luồng đăng nhập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999" y="1044000"/>
            <a:ext cx="5544000" cy="4968000"/>
          </a:xfrm>
          <a:prstGeom prst="rect">
            <a:avLst/>
          </a:prstGeom>
          <a:solidFill>
            <a:srgbClr val="1C2733"/>
          </a:solidFill>
          <a:ln w="10160">
            <a:solidFill>
              <a:srgbClr val="4A5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263999" y="1044000"/>
            <a:ext cx="5544000" cy="151200"/>
          </a:xfrm>
          <a:prstGeom prst="rect">
            <a:avLst/>
          </a:prstGeom>
          <a:solidFill>
            <a:srgbClr val="28323E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35999" y="1054800"/>
            <a:ext cx="1080000" cy="1296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09090"/>
                </a:solidFill>
                <a:latin typeface="Courier New"/>
              </a:rPr>
              <a:t>● ● 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000" y="1231200"/>
            <a:ext cx="5364000" cy="4734000"/>
          </a:xfrm>
          <a:prstGeom prst="rect">
            <a:avLst/>
          </a:prstGeom>
          <a:noFill/>
          <a:ln>
            <a:solidFill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>
                <a:solidFill>
                  <a:srgbClr val="6BB3FF"/>
                </a:solidFill>
                <a:latin typeface="Courier New"/>
              </a:rPr>
              <a:t>public async Task&lt;</a:t>
            </a:r>
            <a:r>
              <a:rPr sz="1019">
                <a:solidFill>
                  <a:srgbClr val="5EDFC8"/>
                </a:solidFill>
                <a:latin typeface="Courier New"/>
              </a:rPr>
              <a:t>AuthResponseDTO</a:t>
            </a:r>
            <a:r>
              <a:rPr sz="1019">
                <a:solidFill>
                  <a:srgbClr val="E8E8E8"/>
                </a:solidFill>
                <a:latin typeface="Courier New"/>
              </a:rPr>
              <a:t>&gt;&gt; Login(LoginDTO model)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>
                <a:solidFill>
                  <a:srgbClr val="E8E8E8"/>
                </a:solidFill>
                <a:latin typeface="Courier New"/>
              </a:rPr>
              <a:t>{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>
                <a:solidFill>
                  <a:srgbClr val="70C260"/>
                </a:solidFill>
                <a:latin typeface="Courier New"/>
              </a:rPr>
              <a:t>  // Tìm user theo Email hoặc Username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>
                <a:solidFill>
                  <a:srgbClr val="E8E8E8"/>
                </a:solidFill>
                <a:latin typeface="Courier New"/>
              </a:rPr>
              <a:t>  var user = await _userManager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>
                <a:solidFill>
                  <a:srgbClr val="E8E8E8"/>
                </a:solidFill>
                <a:latin typeface="Courier New"/>
              </a:rPr>
              <a:t>    .FindByEmailAsync(model.EmailOrUsername)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>
                <a:solidFill>
                  <a:srgbClr val="E8E8E8"/>
                </a:solidFill>
                <a:latin typeface="Courier New"/>
              </a:rPr>
              <a:t>  ?? await _userManager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>
                <a:solidFill>
                  <a:srgbClr val="E8E8E8"/>
                </a:solidFill>
                <a:latin typeface="Courier New"/>
              </a:rPr>
              <a:t>    .FindByNameAsync(model.EmailOrUsername);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>
                <a:solidFill>
                  <a:srgbClr val="6BB3FF"/>
                </a:solidFill>
                <a:latin typeface="Courier New"/>
              </a:rPr>
              <a:t>  if (user == null </a:t>
            </a:r>
            <a:r>
              <a:rPr sz="1019">
                <a:solidFill>
                  <a:srgbClr val="E8E8E8"/>
                </a:solidFill>
                <a:latin typeface="Courier New"/>
              </a:rPr>
              <a:t>|| !await _userManager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>
                <a:solidFill>
                  <a:srgbClr val="E8E8E8"/>
                </a:solidFill>
                <a:latin typeface="Courier New"/>
              </a:rPr>
              <a:t>    .CheckPasswordAsync(user, model.Password))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>
                <a:solidFill>
                  <a:srgbClr val="6BB3FF"/>
                </a:solidFill>
                <a:latin typeface="Courier New"/>
              </a:rPr>
              <a:t>    throw new </a:t>
            </a:r>
            <a:r>
              <a:rPr sz="1019">
                <a:solidFill>
                  <a:srgbClr val="5EDFC8"/>
                </a:solidFill>
                <a:latin typeface="Courier New"/>
              </a:rPr>
              <a:t>UnauthorizedAccessException</a:t>
            </a:r>
            <a:r>
              <a:rPr sz="1019">
                <a:solidFill>
                  <a:srgbClr val="E8E8E8"/>
                </a:solidFill>
                <a:latin typeface="Courier New"/>
              </a:rPr>
              <a:t>();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endParaRPr sz="1019">
              <a:solidFill>
                <a:srgbClr val="E8E8E8"/>
              </a:solidFill>
              <a:latin typeface="Courier New"/>
            </a:endParaRP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>
                <a:solidFill>
                  <a:srgbClr val="70C260"/>
                </a:solidFill>
                <a:latin typeface="Courier New"/>
              </a:rPr>
              <a:t>  // Tạo Access Token + Refresh Token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>
                <a:solidFill>
                  <a:srgbClr val="6BB3FF"/>
                </a:solidFill>
                <a:latin typeface="Courier New"/>
              </a:rPr>
              <a:t>  var </a:t>
            </a:r>
            <a:r>
              <a:rPr sz="1019">
                <a:solidFill>
                  <a:srgbClr val="E8E8E8"/>
                </a:solidFill>
                <a:latin typeface="Courier New"/>
              </a:rPr>
              <a:t>accessToken  = GenerateJwtToken(user);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>
                <a:solidFill>
                  <a:srgbClr val="6BB3FF"/>
                </a:solidFill>
                <a:latin typeface="Courier New"/>
              </a:rPr>
              <a:t>  var </a:t>
            </a:r>
            <a:r>
              <a:rPr sz="1019">
                <a:solidFill>
                  <a:srgbClr val="E8E8E8"/>
                </a:solidFill>
                <a:latin typeface="Courier New"/>
              </a:rPr>
              <a:t>refreshToken = await GenerateRefreshToken(user);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endParaRPr sz="1019">
              <a:solidFill>
                <a:srgbClr val="E8E8E8"/>
              </a:solidFill>
              <a:latin typeface="Courier New"/>
            </a:endParaRP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>
                <a:solidFill>
                  <a:srgbClr val="6BB3FF"/>
                </a:solidFill>
                <a:latin typeface="Courier New"/>
              </a:rPr>
              <a:t>  return new </a:t>
            </a:r>
            <a:r>
              <a:rPr sz="1019">
                <a:solidFill>
                  <a:srgbClr val="5EDFC8"/>
                </a:solidFill>
                <a:latin typeface="Courier New"/>
              </a:rPr>
              <a:t>AuthResponseDTO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>
                <a:solidFill>
                  <a:srgbClr val="E8E8E8"/>
                </a:solidFill>
                <a:latin typeface="Courier New"/>
              </a:rPr>
              <a:t>  { AccessToken = accessToken,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>
                <a:solidFill>
                  <a:srgbClr val="E8E8E8"/>
                </a:solidFill>
                <a:latin typeface="Courier New"/>
              </a:rPr>
              <a:t>    RefreshToken = refreshToken.Token };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>
                <a:solidFill>
                  <a:srgbClr val="E8E8E8"/>
                </a:solidFill>
                <a:latin typeface="Courier New"/>
              </a:rPr>
              <a:t>}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1A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16000" cy="6858000"/>
          </a:xfrm>
          <a:prstGeom prst="rect">
            <a:avLst/>
          </a:prstGeom>
          <a:solidFill>
            <a:srgbClr val="E86A2E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32000" y="151200"/>
            <a:ext cx="11617199" cy="396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DF6EE"/>
                </a:solidFill>
                <a:latin typeface="Calibri"/>
              </a:rPr>
              <a:t>08  –  GIỚI THIỆU CODE – FRONTEND (Compose &amp; ViewModel)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568800"/>
            <a:ext cx="8640000" cy="25200"/>
          </a:xfrm>
          <a:prstGeom prst="rect">
            <a:avLst/>
          </a:prstGeom>
          <a:solidFill>
            <a:srgbClr val="E86A2E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32000" y="720000"/>
            <a:ext cx="5580000" cy="2700000"/>
          </a:xfrm>
          <a:prstGeom prst="rect">
            <a:avLst/>
          </a:prstGeom>
          <a:solidFill>
            <a:srgbClr val="322318"/>
          </a:solidFill>
          <a:ln w="10160">
            <a:solidFill>
              <a:srgbClr val="E86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0000" y="756000"/>
            <a:ext cx="5400000" cy="251999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E86A2E"/>
                </a:solidFill>
                <a:latin typeface="Calibri"/>
              </a:rPr>
              <a:t>🎯  BounceClick Modifier – Hiệu ứng lò xo</a:t>
            </a:r>
          </a:p>
        </p:txBody>
      </p:sp>
      <p:sp>
        <p:nvSpPr>
          <p:cNvPr id="7" name="Rectangle 6"/>
          <p:cNvSpPr/>
          <p:nvPr/>
        </p:nvSpPr>
        <p:spPr>
          <a:xfrm>
            <a:off x="503999" y="1044000"/>
            <a:ext cx="5436000" cy="2304000"/>
          </a:xfrm>
          <a:prstGeom prst="rect">
            <a:avLst/>
          </a:prstGeom>
          <a:solidFill>
            <a:srgbClr val="1C2733"/>
          </a:solidFill>
          <a:ln w="10160">
            <a:solidFill>
              <a:srgbClr val="4A5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3999" y="1044000"/>
            <a:ext cx="5436000" cy="151200"/>
          </a:xfrm>
          <a:prstGeom prst="rect">
            <a:avLst/>
          </a:prstGeom>
          <a:solidFill>
            <a:srgbClr val="28323E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76000" y="1054800"/>
            <a:ext cx="1080000" cy="1296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09090"/>
                </a:solidFill>
                <a:latin typeface="Courier New"/>
              </a:rPr>
              <a:t>● ● 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000" y="1231200"/>
            <a:ext cx="5256000" cy="2070000"/>
          </a:xfrm>
          <a:prstGeom prst="rect">
            <a:avLst/>
          </a:prstGeom>
          <a:noFill/>
          <a:ln>
            <a:solidFill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>
                <a:solidFill>
                  <a:srgbClr val="6BB3FF"/>
                </a:solidFill>
                <a:latin typeface="Courier New"/>
              </a:rPr>
              <a:t>fun </a:t>
            </a:r>
            <a:r>
              <a:rPr sz="1019">
                <a:solidFill>
                  <a:srgbClr val="5EDFC8"/>
                </a:solidFill>
                <a:latin typeface="Courier New"/>
              </a:rPr>
              <a:t>Modifier</a:t>
            </a:r>
            <a:r>
              <a:rPr sz="1019">
                <a:solidFill>
                  <a:srgbClr val="E8E8E8"/>
                </a:solidFill>
                <a:latin typeface="Courier New"/>
              </a:rPr>
              <a:t>.bounceClick(enabled: </a:t>
            </a:r>
            <a:r>
              <a:rPr sz="1019">
                <a:solidFill>
                  <a:srgbClr val="5EDFC8"/>
                </a:solidFill>
                <a:latin typeface="Courier New"/>
              </a:rPr>
              <a:t>Boolean</a:t>
            </a:r>
            <a:r>
              <a:rPr sz="1019">
                <a:solidFill>
                  <a:srgbClr val="E8E8E8"/>
                </a:solidFill>
                <a:latin typeface="Courier New"/>
              </a:rPr>
              <a:t> = </a:t>
            </a:r>
            <a:r>
              <a:rPr sz="1019">
                <a:solidFill>
                  <a:srgbClr val="6BB3FF"/>
                </a:solidFill>
                <a:latin typeface="Courier New"/>
              </a:rPr>
              <a:t>true</a:t>
            </a:r>
            <a:r>
              <a:rPr sz="1019">
                <a:solidFill>
                  <a:srgbClr val="E8E8E8"/>
                </a:solidFill>
                <a:latin typeface="Courier New"/>
              </a:rPr>
              <a:t>,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>
                <a:solidFill>
                  <a:srgbClr val="6BB3FF"/>
                </a:solidFill>
                <a:latin typeface="Courier New"/>
              </a:rPr>
              <a:t>               onClick: () -&gt; </a:t>
            </a:r>
            <a:r>
              <a:rPr sz="1019">
                <a:solidFill>
                  <a:srgbClr val="5EDFC8"/>
                </a:solidFill>
                <a:latin typeface="Courier New"/>
              </a:rPr>
              <a:t>Unit</a:t>
            </a:r>
            <a:r>
              <a:rPr sz="1019">
                <a:solidFill>
                  <a:srgbClr val="E8E8E8"/>
                </a:solidFill>
                <a:latin typeface="Courier New"/>
              </a:rPr>
              <a:t>) = composed {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>
                <a:solidFill>
                  <a:srgbClr val="E8E8E8"/>
                </a:solidFill>
                <a:latin typeface="Courier New"/>
              </a:rPr>
              <a:t>  val isPressed by interactionSource.</a:t>
            </a:r>
            <a:r>
              <a:rPr sz="1019">
                <a:solidFill>
                  <a:srgbClr val="5EDFC8"/>
                </a:solidFill>
                <a:latin typeface="Courier New"/>
              </a:rPr>
              <a:t>collectIsPressedAsState</a:t>
            </a:r>
            <a:r>
              <a:rPr sz="1019">
                <a:solidFill>
                  <a:srgbClr val="E8E8E8"/>
                </a:solidFill>
                <a:latin typeface="Courier New"/>
              </a:rPr>
              <a:t>()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>
                <a:solidFill>
                  <a:srgbClr val="6BB3FF"/>
                </a:solidFill>
                <a:latin typeface="Courier New"/>
              </a:rPr>
              <a:t>  val </a:t>
            </a:r>
            <a:r>
              <a:rPr sz="1019">
                <a:solidFill>
                  <a:srgbClr val="E8E8E8"/>
                </a:solidFill>
                <a:latin typeface="Courier New"/>
              </a:rPr>
              <a:t>scale by animateFloatAsState(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>
                <a:solidFill>
                  <a:srgbClr val="E8E8E8"/>
                </a:solidFill>
                <a:latin typeface="Courier New"/>
              </a:rPr>
              <a:t>    targetValue = if (isPressed &amp;&amp; enabled) </a:t>
            </a:r>
            <a:r>
              <a:rPr sz="1019">
                <a:solidFill>
                  <a:srgbClr val="BFDEB5"/>
                </a:solidFill>
                <a:latin typeface="Courier New"/>
              </a:rPr>
              <a:t>0.95f</a:t>
            </a:r>
            <a:r>
              <a:rPr sz="1019">
                <a:solidFill>
                  <a:srgbClr val="6BB3FF"/>
                </a:solidFill>
                <a:latin typeface="Courier New"/>
              </a:rPr>
              <a:t> else </a:t>
            </a:r>
            <a:r>
              <a:rPr sz="1019">
                <a:solidFill>
                  <a:srgbClr val="BFDEB5"/>
                </a:solidFill>
                <a:latin typeface="Courier New"/>
              </a:rPr>
              <a:t>1f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>
                <a:solidFill>
                  <a:srgbClr val="E8E8E8"/>
                </a:solidFill>
                <a:latin typeface="Courier New"/>
              </a:rPr>
              <a:t>    animationSpec = spring(dampingRatio = </a:t>
            </a:r>
            <a:r>
              <a:rPr sz="1019">
                <a:solidFill>
                  <a:srgbClr val="BFDEB5"/>
                </a:solidFill>
                <a:latin typeface="Courier New"/>
              </a:rPr>
              <a:t>0.7f</a:t>
            </a:r>
            <a:r>
              <a:rPr sz="1019">
                <a:solidFill>
                  <a:srgbClr val="E8E8E8"/>
                </a:solidFill>
                <a:latin typeface="Courier New"/>
              </a:rPr>
              <a:t>, stiffness = </a:t>
            </a:r>
            <a:r>
              <a:rPr sz="1019">
                <a:solidFill>
                  <a:srgbClr val="BFDEB5"/>
                </a:solidFill>
                <a:latin typeface="Courier New"/>
              </a:rPr>
              <a:t>400f</a:t>
            </a:r>
            <a:r>
              <a:rPr sz="1019">
                <a:solidFill>
                  <a:srgbClr val="E8E8E8"/>
                </a:solidFill>
                <a:latin typeface="Courier New"/>
              </a:rPr>
              <a:t>)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>
                <a:solidFill>
                  <a:srgbClr val="E8E8E8"/>
                </a:solidFill>
                <a:latin typeface="Courier New"/>
              </a:rPr>
              <a:t>  )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>
                <a:solidFill>
                  <a:srgbClr val="E8E8E8"/>
                </a:solidFill>
                <a:latin typeface="Courier New"/>
              </a:rPr>
              <a:t>  this.graphicsLayer { scaleX = scale; scaleY = scale }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>
                <a:solidFill>
                  <a:srgbClr val="E8E8E8"/>
                </a:solidFill>
                <a:latin typeface="Courier New"/>
              </a:rPr>
              <a:t>      .clickable(enabled = enabled, onClick = onClick)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>
                <a:solidFill>
                  <a:srgbClr val="E8E8E8"/>
                </a:solidFill>
                <a:latin typeface="Courier New"/>
              </a:rPr>
              <a:t>}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000" y="3528000"/>
            <a:ext cx="5580000" cy="2772000"/>
          </a:xfrm>
          <a:prstGeom prst="rect">
            <a:avLst/>
          </a:prstGeom>
          <a:solidFill>
            <a:srgbClr val="322318"/>
          </a:solidFill>
          <a:ln w="10160">
            <a:solidFill>
              <a:srgbClr val="219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0000" y="3564000"/>
            <a:ext cx="5400000" cy="251999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2196F3"/>
                </a:solidFill>
                <a:latin typeface="Calibri"/>
              </a:rPr>
              <a:t>🏗️  HomeViewModel – Sync danh sách Todo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3999" y="3816000"/>
            <a:ext cx="5436000" cy="2412000"/>
          </a:xfrm>
          <a:prstGeom prst="rect">
            <a:avLst/>
          </a:prstGeom>
          <a:solidFill>
            <a:srgbClr val="1C2733"/>
          </a:solidFill>
          <a:ln w="10160">
            <a:solidFill>
              <a:srgbClr val="4A5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03999" y="3816000"/>
            <a:ext cx="5436000" cy="151200"/>
          </a:xfrm>
          <a:prstGeom prst="rect">
            <a:avLst/>
          </a:prstGeom>
          <a:solidFill>
            <a:srgbClr val="28323E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76000" y="3826799"/>
            <a:ext cx="1080000" cy="1296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09090"/>
                </a:solidFill>
                <a:latin typeface="Courier New"/>
              </a:rPr>
              <a:t>● ● 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000" y="4003199"/>
            <a:ext cx="5256000" cy="2178000"/>
          </a:xfrm>
          <a:prstGeom prst="rect">
            <a:avLst/>
          </a:prstGeom>
          <a:noFill/>
          <a:ln>
            <a:solidFill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>
                <a:solidFill>
                  <a:srgbClr val="6BB3FF"/>
                </a:solidFill>
                <a:latin typeface="Courier New"/>
              </a:rPr>
              <a:t>private val </a:t>
            </a:r>
            <a:r>
              <a:rPr sz="1019">
                <a:solidFill>
                  <a:srgbClr val="E8E8E8"/>
                </a:solidFill>
                <a:latin typeface="Courier New"/>
              </a:rPr>
              <a:t>_todoList = MutableStateFlow(emptyList&lt;</a:t>
            </a:r>
            <a:r>
              <a:rPr sz="1019">
                <a:solidFill>
                  <a:srgbClr val="5EDFC8"/>
                </a:solidFill>
                <a:latin typeface="Courier New"/>
              </a:rPr>
              <a:t>HomeUiState</a:t>
            </a:r>
            <a:r>
              <a:rPr sz="1019">
                <a:solidFill>
                  <a:srgbClr val="E8E8E8"/>
                </a:solidFill>
                <a:latin typeface="Courier New"/>
              </a:rPr>
              <a:t>&gt;()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>
                <a:solidFill>
                  <a:srgbClr val="6BB3FF"/>
                </a:solidFill>
                <a:latin typeface="Courier New"/>
              </a:rPr>
              <a:t>val </a:t>
            </a:r>
            <a:r>
              <a:rPr sz="1019">
                <a:solidFill>
                  <a:srgbClr val="E8E8E8"/>
                </a:solidFill>
                <a:latin typeface="Courier New"/>
              </a:rPr>
              <a:t>todoList = _todoList.asStateFlow()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endParaRPr sz="1019">
              <a:solidFill>
                <a:srgbClr val="E8E8E8"/>
              </a:solidFill>
              <a:latin typeface="Courier New"/>
            </a:endParaRP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>
                <a:solidFill>
                  <a:srgbClr val="6BB3FF"/>
                </a:solidFill>
                <a:latin typeface="Courier New"/>
              </a:rPr>
              <a:t>fun </a:t>
            </a:r>
            <a:r>
              <a:rPr sz="1019">
                <a:solidFill>
                  <a:srgbClr val="E8E8E8"/>
                </a:solidFill>
                <a:latin typeface="Courier New"/>
              </a:rPr>
              <a:t>loadTodos() { viewModelScope.</a:t>
            </a:r>
            <a:r>
              <a:rPr sz="1019">
                <a:solidFill>
                  <a:srgbClr val="5EDFC8"/>
                </a:solidFill>
                <a:latin typeface="Courier New"/>
              </a:rPr>
              <a:t>launch</a:t>
            </a:r>
            <a:r>
              <a:rPr sz="1019">
                <a:solidFill>
                  <a:srgbClr val="E8E8E8"/>
                </a:solidFill>
                <a:latin typeface="Courier New"/>
              </a:rPr>
              <a:t> {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>
                <a:solidFill>
                  <a:srgbClr val="6BB3FF"/>
                </a:solidFill>
                <a:latin typeface="Courier New"/>
              </a:rPr>
              <a:t>  val </a:t>
            </a:r>
            <a:r>
              <a:rPr sz="1019">
                <a:solidFill>
                  <a:srgbClr val="E8E8E8"/>
                </a:solidFill>
                <a:latin typeface="Courier New"/>
              </a:rPr>
              <a:t>resp = api.getTodos(page=</a:t>
            </a:r>
            <a:r>
              <a:rPr sz="1019">
                <a:solidFill>
                  <a:srgbClr val="BFDEB5"/>
                </a:solidFill>
                <a:latin typeface="Courier New"/>
              </a:rPr>
              <a:t>1</a:t>
            </a:r>
            <a:r>
              <a:rPr sz="1019">
                <a:solidFill>
                  <a:srgbClr val="E8E8E8"/>
                </a:solidFill>
                <a:latin typeface="Courier New"/>
              </a:rPr>
              <a:t>)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>
                <a:solidFill>
                  <a:srgbClr val="E8E8E8"/>
                </a:solidFill>
                <a:latin typeface="Courier New"/>
              </a:rPr>
              <a:t>  if (resp.isSuccessful) {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>
                <a:solidFill>
                  <a:srgbClr val="E8E8E8"/>
                </a:solidFill>
                <a:latin typeface="Courier New"/>
              </a:rPr>
              <a:t>    _todoList.value = resp.body()?.data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>
                <a:solidFill>
                  <a:srgbClr val="E8E8E8"/>
                </a:solidFill>
                <a:latin typeface="Courier New"/>
              </a:rPr>
              <a:t>      ?.map { it.toUiState() } ?: emptyList()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>
                <a:solidFill>
                  <a:srgbClr val="E8E8E8"/>
                </a:solidFill>
                <a:latin typeface="Courier New"/>
              </a:rPr>
              <a:t>    syncAlarms(_todoList.value)</a:t>
            </a:r>
            <a:r>
              <a:rPr sz="1019">
                <a:solidFill>
                  <a:srgbClr val="70C260"/>
                </a:solidFill>
                <a:latin typeface="Courier New"/>
              </a:rPr>
              <a:t>  // Đặt lại báo thức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>
                <a:solidFill>
                  <a:srgbClr val="E8E8E8"/>
                </a:solidFill>
                <a:latin typeface="Courier New"/>
              </a:rPr>
              <a:t>  }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>
                <a:solidFill>
                  <a:srgbClr val="E8E8E8"/>
                </a:solidFill>
                <a:latin typeface="Courier New"/>
              </a:rPr>
              <a:t>} }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2000" y="720000"/>
            <a:ext cx="5688000" cy="5580000"/>
          </a:xfrm>
          <a:prstGeom prst="rect">
            <a:avLst/>
          </a:prstGeom>
          <a:solidFill>
            <a:srgbClr val="322318"/>
          </a:solidFill>
          <a:ln w="1016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00000" y="756000"/>
            <a:ext cx="5400000" cy="251999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4CAF50"/>
                </a:solidFill>
                <a:latin typeface="Calibri"/>
              </a:rPr>
              <a:t>📱  TodoCard Composable – Giao diện thẻ việc làm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999" y="1044000"/>
            <a:ext cx="5544000" cy="5184000"/>
          </a:xfrm>
          <a:prstGeom prst="rect">
            <a:avLst/>
          </a:prstGeom>
          <a:solidFill>
            <a:srgbClr val="1C2733"/>
          </a:solidFill>
          <a:ln w="10160">
            <a:solidFill>
              <a:srgbClr val="4A5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263999" y="1044000"/>
            <a:ext cx="5544000" cy="151200"/>
          </a:xfrm>
          <a:prstGeom prst="rect">
            <a:avLst/>
          </a:prstGeom>
          <a:solidFill>
            <a:srgbClr val="28323E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35999" y="1054800"/>
            <a:ext cx="1080000" cy="1296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09090"/>
                </a:solidFill>
                <a:latin typeface="Courier New"/>
              </a:rPr>
              <a:t>● ● 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92000" y="1231200"/>
            <a:ext cx="5840060" cy="3472746"/>
          </a:xfrm>
          <a:prstGeom prst="rect">
            <a:avLst/>
          </a:prstGeom>
          <a:noFill/>
          <a:ln>
            <a:solidFill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 dirty="0">
                <a:solidFill>
                  <a:srgbClr val="6BB3FF"/>
                </a:solidFill>
                <a:latin typeface="Courier New"/>
              </a:rPr>
              <a:t>@</a:t>
            </a:r>
            <a:r>
              <a:rPr sz="1019" dirty="0" err="1">
                <a:solidFill>
                  <a:srgbClr val="6BB3FF"/>
                </a:solidFill>
                <a:latin typeface="Courier New"/>
              </a:rPr>
              <a:t>Composable</a:t>
            </a:r>
            <a:endParaRPr sz="1019" dirty="0">
              <a:solidFill>
                <a:srgbClr val="6BB3FF"/>
              </a:solidFill>
              <a:latin typeface="Courier New"/>
            </a:endParaRP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 dirty="0">
                <a:solidFill>
                  <a:srgbClr val="6BB3FF"/>
                </a:solidFill>
                <a:latin typeface="Courier New"/>
              </a:rPr>
              <a:t>fun </a:t>
            </a:r>
            <a:r>
              <a:rPr sz="1019" dirty="0" err="1">
                <a:solidFill>
                  <a:srgbClr val="E8E8E8"/>
                </a:solidFill>
                <a:latin typeface="Courier New"/>
              </a:rPr>
              <a:t>TodoCard</a:t>
            </a:r>
            <a:r>
              <a:rPr sz="1019" dirty="0">
                <a:solidFill>
                  <a:srgbClr val="E8E8E8"/>
                </a:solidFill>
                <a:latin typeface="Courier New"/>
              </a:rPr>
              <a:t>(</a:t>
            </a:r>
            <a:r>
              <a:rPr sz="1019" dirty="0" err="1">
                <a:solidFill>
                  <a:srgbClr val="E8E8E8"/>
                </a:solidFill>
                <a:latin typeface="Courier New"/>
              </a:rPr>
              <a:t>todo</a:t>
            </a:r>
            <a:r>
              <a:rPr sz="1019" dirty="0">
                <a:solidFill>
                  <a:srgbClr val="E8E8E8"/>
                </a:solidFill>
                <a:latin typeface="Courier New"/>
              </a:rPr>
              <a:t>: </a:t>
            </a:r>
            <a:r>
              <a:rPr sz="1019" dirty="0" err="1">
                <a:solidFill>
                  <a:srgbClr val="5EDFC8"/>
                </a:solidFill>
                <a:latin typeface="Courier New"/>
              </a:rPr>
              <a:t>HomeUiState</a:t>
            </a:r>
            <a:r>
              <a:rPr sz="1019" dirty="0">
                <a:solidFill>
                  <a:srgbClr val="E8E8E8"/>
                </a:solidFill>
                <a:latin typeface="Courier New"/>
              </a:rPr>
              <a:t>, </a:t>
            </a:r>
            <a:r>
              <a:rPr sz="1019" dirty="0" err="1">
                <a:solidFill>
                  <a:srgbClr val="E8E8E8"/>
                </a:solidFill>
                <a:latin typeface="Courier New"/>
              </a:rPr>
              <a:t>onToggle</a:t>
            </a:r>
            <a:r>
              <a:rPr sz="1019" dirty="0">
                <a:solidFill>
                  <a:srgbClr val="E8E8E8"/>
                </a:solidFill>
                <a:latin typeface="Courier New"/>
              </a:rPr>
              <a:t>: () -&gt; Unit) {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 dirty="0">
                <a:solidFill>
                  <a:srgbClr val="6BB3FF"/>
                </a:solidFill>
                <a:latin typeface="Courier New"/>
              </a:rPr>
              <a:t>  </a:t>
            </a:r>
            <a:r>
              <a:rPr sz="1019" dirty="0" err="1">
                <a:solidFill>
                  <a:srgbClr val="6BB3FF"/>
                </a:solidFill>
                <a:latin typeface="Courier New"/>
              </a:rPr>
              <a:t>val</a:t>
            </a:r>
            <a:r>
              <a:rPr sz="1019" dirty="0">
                <a:solidFill>
                  <a:srgbClr val="6BB3FF"/>
                </a:solidFill>
                <a:latin typeface="Courier New"/>
              </a:rPr>
              <a:t> </a:t>
            </a:r>
            <a:r>
              <a:rPr sz="1019" dirty="0" err="1">
                <a:solidFill>
                  <a:srgbClr val="E8E8E8"/>
                </a:solidFill>
                <a:latin typeface="Courier New"/>
              </a:rPr>
              <a:t>glowColor</a:t>
            </a:r>
            <a:r>
              <a:rPr sz="1019" dirty="0">
                <a:solidFill>
                  <a:srgbClr val="E8E8E8"/>
                </a:solidFill>
                <a:latin typeface="Courier New"/>
              </a:rPr>
              <a:t> </a:t>
            </a:r>
            <a:r>
              <a:rPr sz="1019" dirty="0">
                <a:solidFill>
                  <a:srgbClr val="6BB3FF"/>
                </a:solidFill>
                <a:latin typeface="Courier New"/>
              </a:rPr>
              <a:t>= when (</a:t>
            </a:r>
            <a:r>
              <a:rPr sz="1019" dirty="0" err="1">
                <a:solidFill>
                  <a:srgbClr val="6BB3FF"/>
                </a:solidFill>
                <a:latin typeface="Courier New"/>
              </a:rPr>
              <a:t>todo.priority</a:t>
            </a:r>
            <a:r>
              <a:rPr sz="1019" dirty="0">
                <a:solidFill>
                  <a:srgbClr val="6BB3FF"/>
                </a:solidFill>
                <a:latin typeface="Courier New"/>
              </a:rPr>
              <a:t>) {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 dirty="0">
                <a:solidFill>
                  <a:srgbClr val="E8E8E8"/>
                </a:solidFill>
                <a:latin typeface="Courier New"/>
              </a:rPr>
              <a:t>    0 -&gt; Color(</a:t>
            </a:r>
            <a:r>
              <a:rPr sz="1019" dirty="0">
                <a:solidFill>
                  <a:srgbClr val="BFDEB5"/>
                </a:solidFill>
                <a:latin typeface="Courier New"/>
              </a:rPr>
              <a:t>0xFF4CAF50</a:t>
            </a:r>
            <a:r>
              <a:rPr sz="1019" dirty="0">
                <a:solidFill>
                  <a:srgbClr val="E8E8E8"/>
                </a:solidFill>
                <a:latin typeface="Courier New"/>
              </a:rPr>
              <a:t>L)  </a:t>
            </a:r>
            <a:r>
              <a:rPr sz="1019" dirty="0">
                <a:solidFill>
                  <a:srgbClr val="70C260"/>
                </a:solidFill>
                <a:latin typeface="Courier New"/>
              </a:rPr>
              <a:t>// Low  – Green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 dirty="0">
                <a:solidFill>
                  <a:srgbClr val="E8E8E8"/>
                </a:solidFill>
                <a:latin typeface="Courier New"/>
              </a:rPr>
              <a:t>    1 -&gt; Color(</a:t>
            </a:r>
            <a:r>
              <a:rPr sz="1019" dirty="0">
                <a:solidFill>
                  <a:srgbClr val="BFDEB5"/>
                </a:solidFill>
                <a:latin typeface="Courier New"/>
              </a:rPr>
              <a:t>0xFFFF9800</a:t>
            </a:r>
            <a:r>
              <a:rPr sz="1019" dirty="0">
                <a:solidFill>
                  <a:srgbClr val="E8E8E8"/>
                </a:solidFill>
                <a:latin typeface="Courier New"/>
              </a:rPr>
              <a:t>L)  </a:t>
            </a:r>
            <a:r>
              <a:rPr sz="1019" dirty="0">
                <a:solidFill>
                  <a:srgbClr val="70C260"/>
                </a:solidFill>
                <a:latin typeface="Courier New"/>
              </a:rPr>
              <a:t>// Mid  – Orange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 dirty="0">
                <a:solidFill>
                  <a:srgbClr val="E8E8E8"/>
                </a:solidFill>
                <a:latin typeface="Courier New"/>
              </a:rPr>
              <a:t>    else -&gt; Color(</a:t>
            </a:r>
            <a:r>
              <a:rPr sz="1019" dirty="0">
                <a:solidFill>
                  <a:srgbClr val="BFDEB5"/>
                </a:solidFill>
                <a:latin typeface="Courier New"/>
              </a:rPr>
              <a:t>0xFFF44336</a:t>
            </a:r>
            <a:r>
              <a:rPr sz="1019" dirty="0">
                <a:solidFill>
                  <a:srgbClr val="E8E8E8"/>
                </a:solidFill>
                <a:latin typeface="Courier New"/>
              </a:rPr>
              <a:t>L) </a:t>
            </a:r>
            <a:r>
              <a:rPr sz="1019" dirty="0">
                <a:solidFill>
                  <a:srgbClr val="70C260"/>
                </a:solidFill>
                <a:latin typeface="Courier New"/>
              </a:rPr>
              <a:t>// High – Red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 dirty="0">
                <a:solidFill>
                  <a:srgbClr val="E8E8E8"/>
                </a:solidFill>
                <a:latin typeface="Courier New"/>
              </a:rPr>
              <a:t>  }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 dirty="0">
                <a:solidFill>
                  <a:srgbClr val="E8E8E8"/>
                </a:solidFill>
                <a:latin typeface="Courier New"/>
              </a:rPr>
              <a:t>  Surface(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 dirty="0">
                <a:solidFill>
                  <a:srgbClr val="E8E8E8"/>
                </a:solidFill>
                <a:latin typeface="Courier New"/>
              </a:rPr>
              <a:t>    modifier = </a:t>
            </a:r>
            <a:r>
              <a:rPr sz="1019" dirty="0" err="1">
                <a:solidFill>
                  <a:srgbClr val="E8E8E8"/>
                </a:solidFill>
                <a:latin typeface="Courier New"/>
              </a:rPr>
              <a:t>Modifier.fillMaxWidth</a:t>
            </a:r>
            <a:r>
              <a:rPr sz="1019" dirty="0">
                <a:solidFill>
                  <a:srgbClr val="E8E8E8"/>
                </a:solidFill>
                <a:latin typeface="Courier New"/>
              </a:rPr>
              <a:t>()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 dirty="0">
                <a:solidFill>
                  <a:srgbClr val="E8E8E8"/>
                </a:solidFill>
                <a:latin typeface="Courier New"/>
              </a:rPr>
              <a:t>      .border(1.dp, </a:t>
            </a:r>
            <a:r>
              <a:rPr sz="1019" dirty="0" err="1">
                <a:solidFill>
                  <a:srgbClr val="E8E8E8"/>
                </a:solidFill>
                <a:latin typeface="Courier New"/>
              </a:rPr>
              <a:t>glowColor.copy</a:t>
            </a:r>
            <a:r>
              <a:rPr sz="1019" dirty="0">
                <a:solidFill>
                  <a:srgbClr val="E8E8E8"/>
                </a:solidFill>
                <a:latin typeface="Courier New"/>
              </a:rPr>
              <a:t>(alpha=</a:t>
            </a:r>
            <a:r>
              <a:rPr sz="1019" dirty="0">
                <a:solidFill>
                  <a:srgbClr val="BFDEB5"/>
                </a:solidFill>
                <a:latin typeface="Courier New"/>
              </a:rPr>
              <a:t>0.35f</a:t>
            </a:r>
            <a:r>
              <a:rPr sz="1019" dirty="0">
                <a:solidFill>
                  <a:srgbClr val="E8E8E8"/>
                </a:solidFill>
                <a:latin typeface="Courier New"/>
              </a:rPr>
              <a:t>)),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 dirty="0">
                <a:solidFill>
                  <a:srgbClr val="E8E8E8"/>
                </a:solidFill>
                <a:latin typeface="Courier New"/>
              </a:rPr>
              <a:t>    color = </a:t>
            </a:r>
            <a:r>
              <a:rPr sz="1019" dirty="0" err="1">
                <a:solidFill>
                  <a:srgbClr val="E8E8E8"/>
                </a:solidFill>
                <a:latin typeface="Courier New"/>
              </a:rPr>
              <a:t>glowColor.copy</a:t>
            </a:r>
            <a:r>
              <a:rPr sz="1019" dirty="0">
                <a:solidFill>
                  <a:srgbClr val="E8E8E8"/>
                </a:solidFill>
                <a:latin typeface="Courier New"/>
              </a:rPr>
              <a:t>(alpha=</a:t>
            </a:r>
            <a:r>
              <a:rPr sz="1019" dirty="0">
                <a:solidFill>
                  <a:srgbClr val="BFDEB5"/>
                </a:solidFill>
                <a:latin typeface="Courier New"/>
              </a:rPr>
              <a:t>0.08f</a:t>
            </a:r>
            <a:r>
              <a:rPr sz="1019" dirty="0">
                <a:solidFill>
                  <a:srgbClr val="E8E8E8"/>
                </a:solidFill>
                <a:latin typeface="Courier New"/>
              </a:rPr>
              <a:t>),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 dirty="0">
                <a:solidFill>
                  <a:srgbClr val="E8E8E8"/>
                </a:solidFill>
                <a:latin typeface="Courier New"/>
              </a:rPr>
              <a:t>  ) {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 dirty="0">
                <a:solidFill>
                  <a:srgbClr val="E8E8E8"/>
                </a:solidFill>
                <a:latin typeface="Courier New"/>
              </a:rPr>
              <a:t>    Row(modifier = </a:t>
            </a:r>
            <a:r>
              <a:rPr sz="1019" dirty="0" err="1">
                <a:solidFill>
                  <a:srgbClr val="E8E8E8"/>
                </a:solidFill>
                <a:latin typeface="Courier New"/>
              </a:rPr>
              <a:t>Modifier.</a:t>
            </a:r>
            <a:r>
              <a:rPr sz="1019" dirty="0" err="1">
                <a:solidFill>
                  <a:srgbClr val="5EDFC8"/>
                </a:solidFill>
                <a:latin typeface="Courier New"/>
              </a:rPr>
              <a:t>bounceClick</a:t>
            </a:r>
            <a:r>
              <a:rPr sz="1019" dirty="0">
                <a:solidFill>
                  <a:srgbClr val="E8E8E8"/>
                </a:solidFill>
                <a:latin typeface="Courier New"/>
              </a:rPr>
              <a:t>{ </a:t>
            </a:r>
            <a:r>
              <a:rPr sz="1019" dirty="0" err="1">
                <a:solidFill>
                  <a:srgbClr val="E8E8E8"/>
                </a:solidFill>
                <a:latin typeface="Courier New"/>
              </a:rPr>
              <a:t>onToggle</a:t>
            </a:r>
            <a:r>
              <a:rPr sz="1019" dirty="0">
                <a:solidFill>
                  <a:srgbClr val="E8E8E8"/>
                </a:solidFill>
                <a:latin typeface="Courier New"/>
              </a:rPr>
              <a:t>() }) {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 dirty="0">
                <a:solidFill>
                  <a:srgbClr val="E8E8E8"/>
                </a:solidFill>
                <a:latin typeface="Courier New"/>
              </a:rPr>
              <a:t>      Box(</a:t>
            </a:r>
            <a:r>
              <a:rPr sz="1019" dirty="0">
                <a:solidFill>
                  <a:srgbClr val="70C260"/>
                </a:solidFill>
                <a:latin typeface="Courier New"/>
              </a:rPr>
              <a:t>/* priority color bar */)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 dirty="0">
                <a:solidFill>
                  <a:srgbClr val="E8E8E8"/>
                </a:solidFill>
                <a:latin typeface="Courier New"/>
              </a:rPr>
              <a:t>      Checkbox(checked=</a:t>
            </a:r>
            <a:r>
              <a:rPr sz="1019" dirty="0" err="1">
                <a:solidFill>
                  <a:srgbClr val="E8E8E8"/>
                </a:solidFill>
                <a:latin typeface="Courier New"/>
              </a:rPr>
              <a:t>todo.isDone</a:t>
            </a:r>
            <a:r>
              <a:rPr sz="1019" dirty="0">
                <a:solidFill>
                  <a:srgbClr val="E8E8E8"/>
                </a:solidFill>
                <a:latin typeface="Courier New"/>
              </a:rPr>
              <a:t>, </a:t>
            </a:r>
            <a:r>
              <a:rPr sz="1019" dirty="0" err="1">
                <a:solidFill>
                  <a:srgbClr val="E8E8E8"/>
                </a:solidFill>
                <a:latin typeface="Courier New"/>
              </a:rPr>
              <a:t>onCheckedChange</a:t>
            </a:r>
            <a:r>
              <a:rPr sz="1019" dirty="0">
                <a:solidFill>
                  <a:srgbClr val="E8E8E8"/>
                </a:solidFill>
                <a:latin typeface="Courier New"/>
              </a:rPr>
              <a:t>={</a:t>
            </a:r>
            <a:r>
              <a:rPr sz="1019" dirty="0" err="1">
                <a:solidFill>
                  <a:srgbClr val="E8E8E8"/>
                </a:solidFill>
                <a:latin typeface="Courier New"/>
              </a:rPr>
              <a:t>onToggle</a:t>
            </a:r>
            <a:r>
              <a:rPr sz="1019" dirty="0">
                <a:solidFill>
                  <a:srgbClr val="E8E8E8"/>
                </a:solidFill>
                <a:latin typeface="Courier New"/>
              </a:rPr>
              <a:t>()})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 dirty="0">
                <a:solidFill>
                  <a:srgbClr val="E8E8E8"/>
                </a:solidFill>
                <a:latin typeface="Courier New"/>
              </a:rPr>
              <a:t>    </a:t>
            </a:r>
            <a:r>
              <a:rPr sz="1019" dirty="0" smtClean="0">
                <a:solidFill>
                  <a:srgbClr val="E8E8E8"/>
                </a:solidFill>
                <a:latin typeface="Courier New"/>
              </a:rPr>
              <a:t>Text(</a:t>
            </a:r>
            <a:r>
              <a:rPr sz="1019" dirty="0" err="1" smtClean="0">
                <a:solidFill>
                  <a:srgbClr val="E8E8E8"/>
                </a:solidFill>
                <a:latin typeface="Courier New"/>
              </a:rPr>
              <a:t>todo.title</a:t>
            </a:r>
            <a:r>
              <a:rPr sz="1019" dirty="0" smtClean="0">
                <a:solidFill>
                  <a:srgbClr val="E8E8E8"/>
                </a:solidFill>
                <a:latin typeface="Courier New"/>
              </a:rPr>
              <a:t>,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 dirty="0" smtClean="0">
                <a:solidFill>
                  <a:srgbClr val="6BB3FF"/>
                </a:solidFill>
                <a:latin typeface="Courier New"/>
              </a:rPr>
              <a:t> </a:t>
            </a:r>
            <a:r>
              <a:rPr sz="1019" dirty="0" err="1" smtClean="0">
                <a:solidFill>
                  <a:srgbClr val="6BB3FF"/>
                </a:solidFill>
                <a:latin typeface="Courier New"/>
              </a:rPr>
              <a:t>textDecoration</a:t>
            </a:r>
            <a:r>
              <a:rPr sz="1019" dirty="0" smtClean="0">
                <a:solidFill>
                  <a:srgbClr val="6BB3FF"/>
                </a:solidFill>
                <a:latin typeface="Courier New"/>
              </a:rPr>
              <a:t> = if (</a:t>
            </a:r>
            <a:r>
              <a:rPr sz="1019" dirty="0" err="1" smtClean="0">
                <a:solidFill>
                  <a:srgbClr val="6BB3FF"/>
                </a:solidFill>
                <a:latin typeface="Courier New"/>
              </a:rPr>
              <a:t>todo.isDone</a:t>
            </a:r>
            <a:r>
              <a:rPr sz="1019" dirty="0" smtClean="0">
                <a:solidFill>
                  <a:srgbClr val="6BB3FF"/>
                </a:solidFill>
                <a:latin typeface="Courier New"/>
              </a:rPr>
              <a:t>) </a:t>
            </a:r>
            <a:r>
              <a:rPr sz="1019" dirty="0" err="1" smtClean="0">
                <a:solidFill>
                  <a:srgbClr val="5EDFC8"/>
                </a:solidFill>
                <a:latin typeface="Courier New"/>
              </a:rPr>
              <a:t>TextDecoration</a:t>
            </a:r>
            <a:r>
              <a:rPr sz="1019" dirty="0" err="1" smtClean="0">
                <a:solidFill>
                  <a:srgbClr val="E8E8E8"/>
                </a:solidFill>
                <a:latin typeface="Courier New"/>
              </a:rPr>
              <a:t>.LineThrough</a:t>
            </a:r>
            <a:r>
              <a:rPr sz="1019" dirty="0" smtClean="0">
                <a:solidFill>
                  <a:srgbClr val="6BB3FF"/>
                </a:solidFill>
                <a:latin typeface="Courier New"/>
              </a:rPr>
              <a:t> else null)</a:t>
            </a:r>
            <a:endParaRPr lang="en-US" sz="1019" dirty="0" smtClean="0">
              <a:solidFill>
                <a:srgbClr val="E8E8E8"/>
              </a:solidFill>
              <a:latin typeface="Courier New"/>
            </a:endParaRP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 dirty="0" smtClean="0">
                <a:solidFill>
                  <a:srgbClr val="E8E8E8"/>
                </a:solidFill>
                <a:latin typeface="Courier New"/>
              </a:rPr>
              <a:t>   </a:t>
            </a:r>
            <a:r>
              <a:rPr sz="1019" dirty="0">
                <a:solidFill>
                  <a:srgbClr val="E8E8E8"/>
                </a:solidFill>
                <a:latin typeface="Courier New"/>
              </a:rPr>
              <a:t>}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 dirty="0">
                <a:solidFill>
                  <a:srgbClr val="E8E8E8"/>
                </a:solidFill>
                <a:latin typeface="Courier New"/>
              </a:rPr>
              <a:t>  }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 dirty="0">
                <a:solidFill>
                  <a:srgbClr val="E8E8E8"/>
                </a:solidFill>
                <a:latin typeface="Courier New"/>
              </a:rPr>
              <a:t>}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1A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16000" cy="6858000"/>
          </a:xfrm>
          <a:prstGeom prst="rect">
            <a:avLst/>
          </a:prstGeom>
          <a:solidFill>
            <a:srgbClr val="E86A2E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32000" y="151200"/>
            <a:ext cx="11617199" cy="396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DF6EE"/>
                </a:solidFill>
                <a:latin typeface="Calibri"/>
              </a:rPr>
              <a:t>09  –  GIỚI THIỆU CODE – BÁO THỨC (AlarmReceiver &amp; Scheduler)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568800"/>
            <a:ext cx="8640000" cy="25200"/>
          </a:xfrm>
          <a:prstGeom prst="rect">
            <a:avLst/>
          </a:prstGeom>
          <a:solidFill>
            <a:srgbClr val="E86A2E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32000" y="720000"/>
            <a:ext cx="5580000" cy="5328000"/>
          </a:xfrm>
          <a:prstGeom prst="rect">
            <a:avLst/>
          </a:prstGeom>
          <a:solidFill>
            <a:srgbClr val="322318"/>
          </a:solidFill>
          <a:ln w="10160">
            <a:solidFill>
              <a:srgbClr val="F443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0000" y="756000"/>
            <a:ext cx="5400000" cy="251999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F44336"/>
                </a:solidFill>
                <a:latin typeface="Calibri"/>
              </a:rPr>
              <a:t>⏰  AlarmReceiver.onReceive() – Kích hoạt chuông</a:t>
            </a:r>
          </a:p>
        </p:txBody>
      </p:sp>
      <p:sp>
        <p:nvSpPr>
          <p:cNvPr id="7" name="Rectangle 6"/>
          <p:cNvSpPr/>
          <p:nvPr/>
        </p:nvSpPr>
        <p:spPr>
          <a:xfrm>
            <a:off x="503999" y="1044000"/>
            <a:ext cx="5436000" cy="4968000"/>
          </a:xfrm>
          <a:prstGeom prst="rect">
            <a:avLst/>
          </a:prstGeom>
          <a:solidFill>
            <a:srgbClr val="1C2733"/>
          </a:solidFill>
          <a:ln w="10160">
            <a:solidFill>
              <a:srgbClr val="4A5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3999" y="1044000"/>
            <a:ext cx="5436000" cy="151200"/>
          </a:xfrm>
          <a:prstGeom prst="rect">
            <a:avLst/>
          </a:prstGeom>
          <a:solidFill>
            <a:srgbClr val="28323E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76000" y="1054800"/>
            <a:ext cx="1080000" cy="1296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09090"/>
                </a:solidFill>
                <a:latin typeface="Courier New"/>
              </a:rPr>
              <a:t>● ● 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000" y="1231200"/>
            <a:ext cx="5256000" cy="4734000"/>
          </a:xfrm>
          <a:prstGeom prst="rect">
            <a:avLst/>
          </a:prstGeom>
          <a:noFill/>
          <a:ln>
            <a:solidFill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>
                <a:solidFill>
                  <a:srgbClr val="6BB3FF"/>
                </a:solidFill>
                <a:latin typeface="Courier New"/>
              </a:rPr>
              <a:t>class </a:t>
            </a:r>
            <a:r>
              <a:rPr sz="1019">
                <a:solidFill>
                  <a:srgbClr val="5EDFC8"/>
                </a:solidFill>
                <a:latin typeface="Courier New"/>
              </a:rPr>
              <a:t>AlarmReceiver</a:t>
            </a:r>
            <a:r>
              <a:rPr sz="1019">
                <a:solidFill>
                  <a:srgbClr val="E8E8E8"/>
                </a:solidFill>
                <a:latin typeface="Courier New"/>
              </a:rPr>
              <a:t> : </a:t>
            </a:r>
            <a:r>
              <a:rPr sz="1019">
                <a:solidFill>
                  <a:srgbClr val="5EDFC8"/>
                </a:solidFill>
                <a:latin typeface="Courier New"/>
              </a:rPr>
              <a:t>BroadcastReceiver</a:t>
            </a:r>
            <a:r>
              <a:rPr sz="1019">
                <a:solidFill>
                  <a:srgbClr val="E8E8E8"/>
                </a:solidFill>
                <a:latin typeface="Courier New"/>
              </a:rPr>
              <a:t>() {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>
                <a:solidFill>
                  <a:srgbClr val="6BB3FF"/>
                </a:solidFill>
                <a:latin typeface="Courier New"/>
              </a:rPr>
              <a:t>  override fun </a:t>
            </a:r>
            <a:r>
              <a:rPr sz="1019">
                <a:solidFill>
                  <a:srgbClr val="E8E8E8"/>
                </a:solidFill>
                <a:latin typeface="Courier New"/>
              </a:rPr>
              <a:t>onReceive(ctx: </a:t>
            </a:r>
            <a:r>
              <a:rPr sz="1019">
                <a:solidFill>
                  <a:srgbClr val="5EDFC8"/>
                </a:solidFill>
                <a:latin typeface="Courier New"/>
              </a:rPr>
              <a:t>Context</a:t>
            </a:r>
            <a:r>
              <a:rPr sz="1019">
                <a:solidFill>
                  <a:srgbClr val="E8E8E8"/>
                </a:solidFill>
                <a:latin typeface="Courier New"/>
              </a:rPr>
              <a:t>?, intent: </a:t>
            </a:r>
            <a:r>
              <a:rPr sz="1019">
                <a:solidFill>
                  <a:srgbClr val="5EDFC8"/>
                </a:solidFill>
                <a:latin typeface="Courier New"/>
              </a:rPr>
              <a:t>Intent</a:t>
            </a:r>
            <a:r>
              <a:rPr sz="1019">
                <a:solidFill>
                  <a:srgbClr val="E8E8E8"/>
                </a:solidFill>
                <a:latin typeface="Courier New"/>
              </a:rPr>
              <a:t>?) {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>
                <a:solidFill>
                  <a:srgbClr val="E8E8E8"/>
                </a:solidFill>
                <a:latin typeface="Courier New"/>
              </a:rPr>
              <a:t>    val title = intent?.getStringExtra(</a:t>
            </a:r>
            <a:r>
              <a:rPr sz="1019">
                <a:solidFill>
                  <a:srgbClr val="FFB080"/>
                </a:solidFill>
                <a:latin typeface="Courier New"/>
              </a:rPr>
              <a:t>"TITLE"</a:t>
            </a:r>
            <a:r>
              <a:rPr sz="1019">
                <a:solidFill>
                  <a:srgbClr val="E8E8E8"/>
                </a:solidFill>
                <a:latin typeface="Courier New"/>
              </a:rPr>
              <a:t>)?:</a:t>
            </a:r>
            <a:r>
              <a:rPr sz="1019">
                <a:solidFill>
                  <a:srgbClr val="FFB080"/>
                </a:solidFill>
                <a:latin typeface="Courier New"/>
              </a:rPr>
              <a:t>"Alarm"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endParaRPr sz="1019">
              <a:solidFill>
                <a:srgbClr val="FFB080"/>
              </a:solidFill>
              <a:latin typeface="Courier New"/>
            </a:endParaRP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>
                <a:solidFill>
                  <a:srgbClr val="70C260"/>
                </a:solidFill>
                <a:latin typeface="Courier New"/>
              </a:rPr>
              <a:t>    // Tạo Notification Channel độ ưu tiên cao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>
                <a:solidFill>
                  <a:srgbClr val="6BB3FF"/>
                </a:solidFill>
                <a:latin typeface="Courier New"/>
              </a:rPr>
              <a:t>    val </a:t>
            </a:r>
            <a:r>
              <a:rPr sz="1019">
                <a:solidFill>
                  <a:srgbClr val="E8E8E8"/>
                </a:solidFill>
                <a:latin typeface="Courier New"/>
              </a:rPr>
              <a:t>channel = NotificationChannel(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>
                <a:solidFill>
                  <a:srgbClr val="E8E8E8"/>
                </a:solidFill>
                <a:latin typeface="Courier New"/>
              </a:rPr>
              <a:t>      , </a:t>
            </a:r>
            <a:r>
              <a:rPr sz="1019">
                <a:solidFill>
                  <a:srgbClr val="FFB080"/>
                </a:solidFill>
                <a:latin typeface="Courier New"/>
              </a:rPr>
              <a:t>"Báo thức"</a:t>
            </a:r>
            <a:r>
              <a:rPr sz="1019">
                <a:solidFill>
                  <a:srgbClr val="6BB3FF"/>
                </a:solidFill>
                <a:latin typeface="Courier New"/>
              </a:rPr>
              <a:t>, IMPORTANCE_HIGH)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endParaRPr sz="1019">
              <a:solidFill>
                <a:srgbClr val="6BB3FF"/>
              </a:solidFill>
              <a:latin typeface="Courier New"/>
            </a:endParaRP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>
                <a:solidFill>
                  <a:srgbClr val="70C260"/>
                </a:solidFill>
                <a:latin typeface="Courier New"/>
              </a:rPr>
              <a:t>    // fullScreenIntent – vượt màn hình khóa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>
                <a:solidFill>
                  <a:srgbClr val="6BB3FF"/>
                </a:solidFill>
                <a:latin typeface="Courier New"/>
              </a:rPr>
              <a:t>    val </a:t>
            </a:r>
            <a:r>
              <a:rPr sz="1019">
                <a:solidFill>
                  <a:srgbClr val="E8E8E8"/>
                </a:solidFill>
                <a:latin typeface="Courier New"/>
              </a:rPr>
              <a:t>fsi = PendingIntent.getActivity(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>
                <a:solidFill>
                  <a:srgbClr val="E8E8E8"/>
                </a:solidFill>
                <a:latin typeface="Courier New"/>
              </a:rPr>
              <a:t>      ctx, 0, Intent(ctx, </a:t>
            </a:r>
            <a:r>
              <a:rPr sz="1019">
                <a:solidFill>
                  <a:srgbClr val="5EDFC8"/>
                </a:solidFill>
                <a:latin typeface="Courier New"/>
              </a:rPr>
              <a:t>AlarmActivity</a:t>
            </a:r>
            <a:r>
              <a:rPr sz="1019">
                <a:solidFill>
                  <a:srgbClr val="E8E8E8"/>
                </a:solidFill>
                <a:latin typeface="Courier New"/>
              </a:rPr>
              <a:t>::class.java),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>
                <a:solidFill>
                  <a:srgbClr val="6BB3FF"/>
                </a:solidFill>
                <a:latin typeface="Courier New"/>
              </a:rPr>
              <a:t>      FLAG_IMMUTABLE</a:t>
            </a:r>
            <a:r>
              <a:rPr sz="1019">
                <a:solidFill>
                  <a:srgbClr val="E8E8E8"/>
                </a:solidFill>
                <a:latin typeface="Courier New"/>
              </a:rPr>
              <a:t>)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endParaRPr sz="1019">
              <a:solidFill>
                <a:srgbClr val="E8E8E8"/>
              </a:solidFill>
              <a:latin typeface="Courier New"/>
            </a:endParaRP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>
                <a:solidFill>
                  <a:srgbClr val="E8E8E8"/>
                </a:solidFill>
                <a:latin typeface="Courier New"/>
              </a:rPr>
              <a:t>    NotificationCompat.Builder(ctx, </a:t>
            </a:r>
            <a:r>
              <a:rPr sz="1019">
                <a:solidFill>
                  <a:srgbClr val="FFB080"/>
                </a:solidFill>
                <a:latin typeface="Courier New"/>
              </a:rPr>
              <a:t>"ALARM_CH"</a:t>
            </a:r>
            <a:r>
              <a:rPr sz="1019">
                <a:solidFill>
                  <a:srgbClr val="E8E8E8"/>
                </a:solidFill>
                <a:latin typeface="Courier New"/>
              </a:rPr>
              <a:t>)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>
                <a:solidFill>
                  <a:srgbClr val="E8E8E8"/>
                </a:solidFill>
                <a:latin typeface="Courier New"/>
              </a:rPr>
              <a:t>      .setContentTitle(title)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>
                <a:solidFill>
                  <a:srgbClr val="6BB3FF"/>
                </a:solidFill>
                <a:latin typeface="Courier New"/>
              </a:rPr>
              <a:t>      .setPriority(PRIORITY_HIGH)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>
                <a:solidFill>
                  <a:srgbClr val="E8E8E8"/>
                </a:solidFill>
                <a:latin typeface="Courier New"/>
              </a:rPr>
              <a:t>      .setFullScreenIntent(fsi, </a:t>
            </a:r>
            <a:r>
              <a:rPr sz="1019">
                <a:solidFill>
                  <a:srgbClr val="6BB3FF"/>
                </a:solidFill>
                <a:latin typeface="Courier New"/>
              </a:rPr>
              <a:t>true</a:t>
            </a:r>
            <a:r>
              <a:rPr sz="1019">
                <a:solidFill>
                  <a:srgbClr val="E8E8E8"/>
                </a:solidFill>
                <a:latin typeface="Courier New"/>
              </a:rPr>
              <a:t>)  </a:t>
            </a:r>
            <a:r>
              <a:rPr sz="1019">
                <a:solidFill>
                  <a:srgbClr val="70C260"/>
                </a:solidFill>
                <a:latin typeface="Courier New"/>
              </a:rPr>
              <a:t>// KEY!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>
                <a:solidFill>
                  <a:srgbClr val="E8E8E8"/>
                </a:solidFill>
                <a:latin typeface="Courier New"/>
              </a:rPr>
              <a:t>      .build() → notificationManager.notify(0, it)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>
                <a:solidFill>
                  <a:srgbClr val="E8E8E8"/>
                </a:solidFill>
                <a:latin typeface="Courier New"/>
              </a:rPr>
              <a:t>  }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>
                <a:solidFill>
                  <a:srgbClr val="E8E8E8"/>
                </a:solidFill>
                <a:latin typeface="Courier New"/>
              </a:rPr>
              <a:t>}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2000" y="720000"/>
            <a:ext cx="5688000" cy="5328000"/>
          </a:xfrm>
          <a:prstGeom prst="rect">
            <a:avLst/>
          </a:prstGeom>
          <a:solidFill>
            <a:srgbClr val="322318"/>
          </a:solidFill>
          <a:ln w="1016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00000" y="756000"/>
            <a:ext cx="5400000" cy="251999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4CAF50"/>
                </a:solidFill>
                <a:latin typeface="Calibri"/>
              </a:rPr>
              <a:t>📅  ReminderScheduler – Đặt &amp; Hủy báo thức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999" y="1044000"/>
            <a:ext cx="5544000" cy="4968000"/>
          </a:xfrm>
          <a:prstGeom prst="rect">
            <a:avLst/>
          </a:prstGeom>
          <a:solidFill>
            <a:srgbClr val="1C2733"/>
          </a:solidFill>
          <a:ln w="10160">
            <a:solidFill>
              <a:srgbClr val="4A5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263999" y="1044000"/>
            <a:ext cx="5544000" cy="151200"/>
          </a:xfrm>
          <a:prstGeom prst="rect">
            <a:avLst/>
          </a:prstGeom>
          <a:solidFill>
            <a:srgbClr val="28323E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35999" y="1054800"/>
            <a:ext cx="1080000" cy="1296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09090"/>
                </a:solidFill>
                <a:latin typeface="Courier New"/>
              </a:rPr>
              <a:t>● ● 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000" y="1231200"/>
            <a:ext cx="5364000" cy="4734000"/>
          </a:xfrm>
          <a:prstGeom prst="rect">
            <a:avLst/>
          </a:prstGeom>
          <a:noFill/>
          <a:ln>
            <a:solidFill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>
                <a:solidFill>
                  <a:srgbClr val="6BB3FF"/>
                </a:solidFill>
                <a:latin typeface="Courier New"/>
              </a:rPr>
              <a:t>fun </a:t>
            </a:r>
            <a:r>
              <a:rPr sz="1019">
                <a:solidFill>
                  <a:srgbClr val="E8E8E8"/>
                </a:solidFill>
                <a:latin typeface="Courier New"/>
              </a:rPr>
              <a:t>scheduleAlarm(ctx: </a:t>
            </a:r>
            <a:r>
              <a:rPr sz="1019">
                <a:solidFill>
                  <a:srgbClr val="5EDFC8"/>
                </a:solidFill>
                <a:latin typeface="Courier New"/>
              </a:rPr>
              <a:t>Context</a:t>
            </a:r>
            <a:r>
              <a:rPr sz="1019">
                <a:solidFill>
                  <a:srgbClr val="E8E8E8"/>
                </a:solidFill>
                <a:latin typeface="Courier New"/>
              </a:rPr>
              <a:t>, todo: </a:t>
            </a:r>
            <a:r>
              <a:rPr sz="1019">
                <a:solidFill>
                  <a:srgbClr val="5EDFC8"/>
                </a:solidFill>
                <a:latin typeface="Courier New"/>
              </a:rPr>
              <a:t>HomeUiState</a:t>
            </a:r>
            <a:r>
              <a:rPr sz="1019">
                <a:solidFill>
                  <a:srgbClr val="E8E8E8"/>
                </a:solidFill>
                <a:latin typeface="Courier New"/>
              </a:rPr>
              <a:t>) {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>
                <a:solidFill>
                  <a:srgbClr val="6BB3FF"/>
                </a:solidFill>
                <a:latin typeface="Courier New"/>
              </a:rPr>
              <a:t>  val </a:t>
            </a:r>
            <a:r>
              <a:rPr sz="1019">
                <a:solidFill>
                  <a:srgbClr val="E8E8E8"/>
                </a:solidFill>
                <a:latin typeface="Courier New"/>
              </a:rPr>
              <a:t>triggerMs = todo.duedate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>
                <a:solidFill>
                  <a:srgbClr val="E8E8E8"/>
                </a:solidFill>
                <a:latin typeface="Courier New"/>
              </a:rPr>
              <a:t>    .atZone(ZoneId.systemDefault()).toInstant().toEpochMilli()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>
                <a:solidFill>
                  <a:srgbClr val="6BB3FF"/>
                </a:solidFill>
                <a:latin typeface="Courier New"/>
              </a:rPr>
              <a:t>  val </a:t>
            </a:r>
            <a:r>
              <a:rPr sz="1019">
                <a:solidFill>
                  <a:srgbClr val="E8E8E8"/>
                </a:solidFill>
                <a:latin typeface="Courier New"/>
              </a:rPr>
              <a:t>now = System.currentTimeMillis()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endParaRPr sz="1019">
              <a:solidFill>
                <a:srgbClr val="E8E8E8"/>
              </a:solidFill>
              <a:latin typeface="Courier New"/>
            </a:endParaRP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>
                <a:solidFill>
                  <a:srgbClr val="70C260"/>
                </a:solidFill>
                <a:latin typeface="Courier New"/>
              </a:rPr>
              <a:t>  // Grace Period 3 phút – chống trễ API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>
                <a:solidFill>
                  <a:srgbClr val="6BB3FF"/>
                </a:solidFill>
                <a:latin typeface="Courier New"/>
              </a:rPr>
              <a:t>  if </a:t>
            </a:r>
            <a:r>
              <a:rPr sz="1019">
                <a:solidFill>
                  <a:srgbClr val="E8E8E8"/>
                </a:solidFill>
                <a:latin typeface="Courier New"/>
              </a:rPr>
              <a:t>(triggerMs &lt; now &amp;&amp; now - triggerMs &lt; </a:t>
            </a:r>
            <a:r>
              <a:rPr sz="1019">
                <a:solidFill>
                  <a:srgbClr val="BFDEB5"/>
                </a:solidFill>
                <a:latin typeface="Courier New"/>
              </a:rPr>
              <a:t>180_000L</a:t>
            </a:r>
            <a:r>
              <a:rPr sz="1019">
                <a:solidFill>
                  <a:srgbClr val="E8E8E8"/>
                </a:solidFill>
                <a:latin typeface="Courier New"/>
              </a:rPr>
              <a:t>) {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>
                <a:solidFill>
                  <a:srgbClr val="E8E8E8"/>
                </a:solidFill>
                <a:latin typeface="Courier New"/>
              </a:rPr>
              <a:t>    ctx.sendBroadcast(Intent(</a:t>
            </a:r>
            <a:r>
              <a:rPr sz="1019">
                <a:solidFill>
                  <a:srgbClr val="6BB3FF"/>
                </a:solidFill>
                <a:latin typeface="Courier New"/>
              </a:rPr>
              <a:t>ACTION_ALARM</a:t>
            </a:r>
            <a:r>
              <a:rPr sz="1019">
                <a:solidFill>
                  <a:srgbClr val="E8E8E8"/>
                </a:solidFill>
                <a:latin typeface="Courier New"/>
              </a:rPr>
              <a:t>))</a:t>
            </a:r>
            <a:r>
              <a:rPr sz="1019">
                <a:solidFill>
                  <a:srgbClr val="70C260"/>
                </a:solidFill>
                <a:latin typeface="Courier New"/>
              </a:rPr>
              <a:t> // ngay!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>
                <a:solidFill>
                  <a:srgbClr val="6BB3FF"/>
                </a:solidFill>
                <a:latin typeface="Courier New"/>
              </a:rPr>
              <a:t>    return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>
                <a:solidFill>
                  <a:srgbClr val="E8E8E8"/>
                </a:solidFill>
                <a:latin typeface="Courier New"/>
              </a:rPr>
              <a:t>  }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endParaRPr sz="1019">
              <a:solidFill>
                <a:srgbClr val="E8E8E8"/>
              </a:solidFill>
              <a:latin typeface="Courier New"/>
            </a:endParaRP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>
                <a:solidFill>
                  <a:srgbClr val="6BB3FF"/>
                </a:solidFill>
                <a:latin typeface="Courier New"/>
              </a:rPr>
              <a:t>  val </a:t>
            </a:r>
            <a:r>
              <a:rPr sz="1019">
                <a:solidFill>
                  <a:srgbClr val="E8E8E8"/>
                </a:solidFill>
                <a:latin typeface="Courier New"/>
              </a:rPr>
              <a:t>am = ctx.getSystemService(</a:t>
            </a:r>
            <a:r>
              <a:rPr sz="1019">
                <a:solidFill>
                  <a:srgbClr val="5EDFC8"/>
                </a:solidFill>
                <a:latin typeface="Courier New"/>
              </a:rPr>
              <a:t>AlarmManager</a:t>
            </a:r>
            <a:r>
              <a:rPr sz="1019">
                <a:solidFill>
                  <a:srgbClr val="E8E8E8"/>
                </a:solidFill>
                <a:latin typeface="Courier New"/>
              </a:rPr>
              <a:t>::class.java)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>
                <a:solidFill>
                  <a:srgbClr val="E8E8E8"/>
                </a:solidFill>
                <a:latin typeface="Courier New"/>
              </a:rPr>
              <a:t>  am.</a:t>
            </a:r>
            <a:r>
              <a:rPr sz="1019">
                <a:solidFill>
                  <a:srgbClr val="5EDFC8"/>
                </a:solidFill>
                <a:latin typeface="Courier New"/>
              </a:rPr>
              <a:t>setExactAndAllowWhileIdle</a:t>
            </a:r>
            <a:r>
              <a:rPr sz="1019">
                <a:solidFill>
                  <a:srgbClr val="E8E8E8"/>
                </a:solidFill>
                <a:latin typeface="Courier New"/>
              </a:rPr>
              <a:t>(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>
                <a:solidFill>
                  <a:srgbClr val="E8E8E8"/>
                </a:solidFill>
                <a:latin typeface="Courier New"/>
              </a:rPr>
              <a:t>    AlarmManager.RTC_WAKEUP, triggerMs, pendingIntent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>
                <a:solidFill>
                  <a:srgbClr val="E8E8E8"/>
                </a:solidFill>
                <a:latin typeface="Courier New"/>
              </a:rPr>
              <a:t>  )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>
                <a:solidFill>
                  <a:srgbClr val="E8E8E8"/>
                </a:solidFill>
                <a:latin typeface="Courier New"/>
              </a:rPr>
              <a:t>}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endParaRPr sz="1019">
              <a:solidFill>
                <a:srgbClr val="E8E8E8"/>
              </a:solidFill>
              <a:latin typeface="Courier New"/>
            </a:endParaRP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>
                <a:solidFill>
                  <a:srgbClr val="6BB3FF"/>
                </a:solidFill>
                <a:latin typeface="Courier New"/>
              </a:rPr>
              <a:t>fun </a:t>
            </a:r>
            <a:r>
              <a:rPr sz="1019">
                <a:solidFill>
                  <a:srgbClr val="E8E8E8"/>
                </a:solidFill>
                <a:latin typeface="Courier New"/>
              </a:rPr>
              <a:t>cancelAlarm(ctx: </a:t>
            </a:r>
            <a:r>
              <a:rPr sz="1019">
                <a:solidFill>
                  <a:srgbClr val="5EDFC8"/>
                </a:solidFill>
                <a:latin typeface="Courier New"/>
              </a:rPr>
              <a:t>Context</a:t>
            </a:r>
            <a:r>
              <a:rPr sz="1019">
                <a:solidFill>
                  <a:srgbClr val="E8E8E8"/>
                </a:solidFill>
                <a:latin typeface="Courier New"/>
              </a:rPr>
              <a:t>, todoId: </a:t>
            </a:r>
            <a:r>
              <a:rPr sz="1019">
                <a:solidFill>
                  <a:srgbClr val="5EDFC8"/>
                </a:solidFill>
                <a:latin typeface="Courier New"/>
              </a:rPr>
              <a:t>Int</a:t>
            </a:r>
            <a:r>
              <a:rPr sz="1019">
                <a:solidFill>
                  <a:srgbClr val="E8E8E8"/>
                </a:solidFill>
                <a:latin typeface="Courier New"/>
              </a:rPr>
              <a:t>) {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>
                <a:solidFill>
                  <a:srgbClr val="E8E8E8"/>
                </a:solidFill>
                <a:latin typeface="Courier New"/>
              </a:rPr>
              <a:t>  val am = ctx.getSystemService(</a:t>
            </a:r>
            <a:r>
              <a:rPr sz="1019">
                <a:solidFill>
                  <a:srgbClr val="5EDFC8"/>
                </a:solidFill>
                <a:latin typeface="Courier New"/>
              </a:rPr>
              <a:t>AlarmManager</a:t>
            </a:r>
            <a:r>
              <a:rPr sz="1019">
                <a:solidFill>
                  <a:srgbClr val="E8E8E8"/>
                </a:solidFill>
                <a:latin typeface="Courier New"/>
              </a:rPr>
              <a:t>::class.java)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>
                <a:solidFill>
                  <a:srgbClr val="E8E8E8"/>
                </a:solidFill>
                <a:latin typeface="Courier New"/>
              </a:rPr>
              <a:t>  am.cancel(buildPendingIntent(ctx, todoId))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19">
                <a:solidFill>
                  <a:srgbClr val="E8E8E8"/>
                </a:solidFill>
                <a:latin typeface="Courier New"/>
              </a:rPr>
              <a:t>}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1A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16000" cy="6858000"/>
          </a:xfrm>
          <a:prstGeom prst="rect">
            <a:avLst/>
          </a:prstGeom>
          <a:solidFill>
            <a:srgbClr val="E86A2E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32000" y="151200"/>
            <a:ext cx="11617199" cy="396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DF6EE"/>
                </a:solidFill>
                <a:latin typeface="Calibri"/>
              </a:rPr>
              <a:t>10  –  DEMO LUỒNG SỬ DỤNG THỰC TẾ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568800"/>
            <a:ext cx="8640000" cy="25200"/>
          </a:xfrm>
          <a:prstGeom prst="rect">
            <a:avLst/>
          </a:prstGeom>
          <a:solidFill>
            <a:srgbClr val="E86A2E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32000" y="720000"/>
            <a:ext cx="7200000" cy="2592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E86A2E"/>
                </a:solidFill>
                <a:latin typeface="Calibri"/>
              </a:rPr>
              <a:t>📱  Luồng End-to-End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432000" y="1026000"/>
            <a:ext cx="2179439" cy="2592000"/>
          </a:xfrm>
          <a:prstGeom prst="rect">
            <a:avLst/>
          </a:prstGeom>
          <a:solidFill>
            <a:srgbClr val="322318"/>
          </a:solidFill>
          <a:ln w="10160">
            <a:solidFill>
              <a:srgbClr val="E86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3999" y="1116000"/>
            <a:ext cx="2071439" cy="864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86A2E"/>
                </a:solidFill>
                <a:latin typeface="Calibri"/>
              </a:rPr>
              <a:t>🔐
Đăng nhập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3999" y="2034000"/>
            <a:ext cx="2071439" cy="1475999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ctr"/>
            <a:r>
              <a:rPr sz="1150" b="0">
                <a:solidFill>
                  <a:srgbClr val="FDF6EE"/>
                </a:solidFill>
                <a:latin typeface="Calibri"/>
              </a:rPr>
              <a:t>Nhập Email+Pass
Nhận JWT Token
Lưu mã hóa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36639" y="2088000"/>
            <a:ext cx="125999" cy="234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B8A28A"/>
                </a:solidFill>
                <a:latin typeface="Calibri"/>
              </a:rPr>
              <a:t>▶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55439" y="1026000"/>
            <a:ext cx="2179439" cy="2592000"/>
          </a:xfrm>
          <a:prstGeom prst="rect">
            <a:avLst/>
          </a:prstGeom>
          <a:solidFill>
            <a:srgbClr val="322318"/>
          </a:solidFill>
          <a:ln w="10160">
            <a:solidFill>
              <a:srgbClr val="E86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827439" y="1116000"/>
            <a:ext cx="2071439" cy="864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86A2E"/>
                </a:solidFill>
                <a:latin typeface="Calibri"/>
              </a:rPr>
              <a:t>🏠
Màn hình chính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27439" y="2034000"/>
            <a:ext cx="2071439" cy="1475999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ctr"/>
            <a:r>
              <a:rPr sz="1150" b="0">
                <a:solidFill>
                  <a:srgbClr val="FDF6EE"/>
                </a:solidFill>
                <a:latin typeface="Calibri"/>
              </a:rPr>
              <a:t>Xem Todo hôm nay
Calendar filter
Bounce click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60079" y="2088000"/>
            <a:ext cx="125999" cy="234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B8A28A"/>
                </a:solidFill>
                <a:latin typeface="Calibri"/>
              </a:rPr>
              <a:t>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78879" y="1026000"/>
            <a:ext cx="2179439" cy="2592000"/>
          </a:xfrm>
          <a:prstGeom prst="rect">
            <a:avLst/>
          </a:prstGeom>
          <a:solidFill>
            <a:srgbClr val="322318"/>
          </a:solidFill>
          <a:ln w="10160">
            <a:solidFill>
              <a:srgbClr val="E86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150879" y="1116000"/>
            <a:ext cx="2071439" cy="864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86A2E"/>
                </a:solidFill>
                <a:latin typeface="Calibri"/>
              </a:rPr>
              <a:t>➕
Tạo Todo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50879" y="2034000"/>
            <a:ext cx="2071439" cy="1475999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ctr"/>
            <a:r>
              <a:rPr sz="1150" b="0">
                <a:solidFill>
                  <a:srgbClr val="FDF6EE"/>
                </a:solidFill>
                <a:latin typeface="Calibri"/>
              </a:rPr>
              <a:t>Tiêu đề+Mô tả
Category+Priority
DueDate→Báo thức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83519" y="2088000"/>
            <a:ext cx="125999" cy="234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B8A28A"/>
                </a:solidFill>
                <a:latin typeface="Calibri"/>
              </a:rPr>
              <a:t>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02319" y="1026000"/>
            <a:ext cx="2179439" cy="2592000"/>
          </a:xfrm>
          <a:prstGeom prst="rect">
            <a:avLst/>
          </a:prstGeom>
          <a:solidFill>
            <a:srgbClr val="322318"/>
          </a:solidFill>
          <a:ln w="10160">
            <a:solidFill>
              <a:srgbClr val="E86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474319" y="1116000"/>
            <a:ext cx="2071439" cy="864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86A2E"/>
                </a:solidFill>
                <a:latin typeface="Calibri"/>
              </a:rPr>
              <a:t>🗂️
Danh mục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74319" y="2034000"/>
            <a:ext cx="2071439" cy="1475999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ctr"/>
            <a:r>
              <a:rPr sz="1150" b="0">
                <a:solidFill>
                  <a:srgbClr val="FDF6EE"/>
                </a:solidFill>
                <a:latin typeface="Calibri"/>
              </a:rPr>
              <a:t>Thêm/Sửa/Xóa
Search inline
Cascade todo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6959" y="2088000"/>
            <a:ext cx="125999" cy="234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B8A28A"/>
                </a:solidFill>
                <a:latin typeface="Calibri"/>
              </a:rPr>
              <a:t>▶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725759" y="1026000"/>
            <a:ext cx="2179439" cy="2592000"/>
          </a:xfrm>
          <a:prstGeom prst="rect">
            <a:avLst/>
          </a:prstGeom>
          <a:solidFill>
            <a:srgbClr val="322318"/>
          </a:solidFill>
          <a:ln w="10160">
            <a:solidFill>
              <a:srgbClr val="E86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797759" y="1116000"/>
            <a:ext cx="2071439" cy="864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86A2E"/>
                </a:solidFill>
                <a:latin typeface="Calibri"/>
              </a:rPr>
              <a:t>⏰
Báo thức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97759" y="2034000"/>
            <a:ext cx="2071439" cy="1475999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ctr"/>
            <a:r>
              <a:rPr sz="1150" b="0">
                <a:solidFill>
                  <a:srgbClr val="FDF6EE"/>
                </a:solidFill>
                <a:latin typeface="Calibri"/>
              </a:rPr>
              <a:t>Màn hình toàn
Qua khóa điện thoại
Snooze 5p/Tắt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000" y="3744000"/>
            <a:ext cx="7200000" cy="251999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6A2E"/>
                </a:solidFill>
                <a:latin typeface="Calibri"/>
              </a:rPr>
              <a:t>📡  ENDPOINTS API CHÍNH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2000" y="4014000"/>
            <a:ext cx="5646599" cy="522000"/>
          </a:xfrm>
          <a:prstGeom prst="rect">
            <a:avLst/>
          </a:prstGeom>
          <a:solidFill>
            <a:srgbClr val="422F2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22000" y="4057200"/>
            <a:ext cx="2992697" cy="432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E86A2E"/>
                </a:solidFill>
                <a:latin typeface="Courier New"/>
              </a:rPr>
              <a:t>POST /api/Auth/register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37629" y="4093200"/>
            <a:ext cx="2484503" cy="360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DF6EE"/>
                </a:solidFill>
                <a:latin typeface="Calibri"/>
              </a:rPr>
              <a:t>→  Đăng ký tài khoản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2000" y="4590000"/>
            <a:ext cx="5646599" cy="522000"/>
          </a:xfrm>
          <a:prstGeom prst="rect">
            <a:avLst/>
          </a:prstGeom>
          <a:solidFill>
            <a:srgbClr val="322318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22000" y="4633200"/>
            <a:ext cx="2992697" cy="432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E86A2E"/>
                </a:solidFill>
                <a:latin typeface="Courier New"/>
              </a:rPr>
              <a:t>POST /api/Auth/login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37629" y="4669200"/>
            <a:ext cx="2484503" cy="360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DF6EE"/>
                </a:solidFill>
                <a:latin typeface="Calibri"/>
              </a:rPr>
              <a:t>→  Đăng nhập → JWT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2000" y="5166000"/>
            <a:ext cx="5646599" cy="522000"/>
          </a:xfrm>
          <a:prstGeom prst="rect">
            <a:avLst/>
          </a:prstGeom>
          <a:solidFill>
            <a:srgbClr val="422F2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22000" y="5209200"/>
            <a:ext cx="2992697" cy="432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E86A2E"/>
                </a:solidFill>
                <a:latin typeface="Courier New"/>
              </a:rPr>
              <a:t>POST /api/Auth/refresh-token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37629" y="5245200"/>
            <a:ext cx="2484503" cy="360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DF6EE"/>
                </a:solidFill>
                <a:latin typeface="Calibri"/>
              </a:rPr>
              <a:t>→  Làm mới Access Token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2000" y="5742000"/>
            <a:ext cx="5646599" cy="522000"/>
          </a:xfrm>
          <a:prstGeom prst="rect">
            <a:avLst/>
          </a:prstGeom>
          <a:solidFill>
            <a:srgbClr val="322318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22000" y="5785200"/>
            <a:ext cx="2992697" cy="432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E86A2E"/>
                </a:solidFill>
                <a:latin typeface="Courier New"/>
              </a:rPr>
              <a:t>POST /api/Auth/revoke-token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37629" y="5821200"/>
            <a:ext cx="2484503" cy="360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DF6EE"/>
                </a:solidFill>
                <a:latin typeface="Calibri"/>
              </a:rPr>
              <a:t>→  Thu hồi token Logout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58599" y="4014000"/>
            <a:ext cx="5646599" cy="522000"/>
          </a:xfrm>
          <a:prstGeom prst="rect">
            <a:avLst/>
          </a:prstGeom>
          <a:solidFill>
            <a:srgbClr val="422F2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348599" y="4057200"/>
            <a:ext cx="2992697" cy="432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E86A2E"/>
                </a:solidFill>
                <a:latin typeface="Courier New"/>
              </a:rPr>
              <a:t>GET  /api/ToDoItem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64229" y="4093200"/>
            <a:ext cx="2484503" cy="360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DF6EE"/>
                </a:solidFill>
                <a:latin typeface="Calibri"/>
              </a:rPr>
              <a:t>→  Lấy danh sách Todo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58599" y="4590000"/>
            <a:ext cx="5646599" cy="522000"/>
          </a:xfrm>
          <a:prstGeom prst="rect">
            <a:avLst/>
          </a:prstGeom>
          <a:solidFill>
            <a:srgbClr val="322318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348599" y="4633200"/>
            <a:ext cx="2992697" cy="432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E86A2E"/>
                </a:solidFill>
                <a:latin typeface="Courier New"/>
              </a:rPr>
              <a:t>POST /api/ToDoItem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64229" y="4669200"/>
            <a:ext cx="2484503" cy="360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DF6EE"/>
                </a:solidFill>
                <a:latin typeface="Calibri"/>
              </a:rPr>
              <a:t>→  Tạo Todo mới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58599" y="5166000"/>
            <a:ext cx="5646599" cy="522000"/>
          </a:xfrm>
          <a:prstGeom prst="rect">
            <a:avLst/>
          </a:prstGeom>
          <a:solidFill>
            <a:srgbClr val="422F2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348599" y="5209200"/>
            <a:ext cx="2992697" cy="432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E86A2E"/>
                </a:solidFill>
                <a:latin typeface="Courier New"/>
              </a:rPr>
              <a:t>PUT  /api/ToDoItem/{id}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64229" y="5245200"/>
            <a:ext cx="2484503" cy="360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DF6EE"/>
                </a:solidFill>
                <a:latin typeface="Calibri"/>
              </a:rPr>
              <a:t>→  Sửa Todo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58599" y="5742000"/>
            <a:ext cx="5646599" cy="522000"/>
          </a:xfrm>
          <a:prstGeom prst="rect">
            <a:avLst/>
          </a:prstGeom>
          <a:solidFill>
            <a:srgbClr val="322318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348599" y="5785200"/>
            <a:ext cx="2992697" cy="432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E86A2E"/>
                </a:solidFill>
                <a:latin typeface="Courier New"/>
              </a:rPr>
              <a:t>PATCH /api/ToDoItem/{id}/toggle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364229" y="5821200"/>
            <a:ext cx="2484503" cy="360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DF6EE"/>
                </a:solidFill>
                <a:latin typeface="Calibri"/>
              </a:rPr>
              <a:t>→  Toggle hoàn thành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1A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16000" cy="6858000"/>
          </a:xfrm>
          <a:prstGeom prst="rect">
            <a:avLst/>
          </a:prstGeom>
          <a:solidFill>
            <a:srgbClr val="E86A2E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32000" y="151200"/>
            <a:ext cx="11617199" cy="396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DF6EE"/>
                </a:solidFill>
                <a:latin typeface="Calibri"/>
              </a:rPr>
              <a:t>11  –  KẾT LUẬN &amp; HƯỚNG PHÁT TRIỂN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568800"/>
            <a:ext cx="8640000" cy="25200"/>
          </a:xfrm>
          <a:prstGeom prst="rect">
            <a:avLst/>
          </a:prstGeom>
          <a:solidFill>
            <a:srgbClr val="E86A2E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32000" y="720000"/>
            <a:ext cx="5646599" cy="5220000"/>
          </a:xfrm>
          <a:prstGeom prst="rect">
            <a:avLst/>
          </a:prstGeom>
          <a:solidFill>
            <a:srgbClr val="322318"/>
          </a:solidFill>
          <a:ln w="1524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32000" y="720000"/>
            <a:ext cx="5646599" cy="316800"/>
          </a:xfrm>
          <a:prstGeom prst="rect">
            <a:avLst/>
          </a:prstGeom>
          <a:solidFill>
            <a:srgbClr val="4CAF50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0000" y="741600"/>
            <a:ext cx="5502599" cy="2772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✅  KẾT QUẢ ĐẠT ĐƯỢC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8000" y="1123200"/>
            <a:ext cx="5430599" cy="756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DF6EE"/>
                </a:solidFill>
                <a:latin typeface="Calibri"/>
              </a:rPr>
              <a:t>•  Ứng dụng Todo CRUD đầy đủ, phân loại
theo danh mục và 3 mức ưu tiên.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8000" y="1969200"/>
            <a:ext cx="5430599" cy="756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DF6EE"/>
                </a:solidFill>
                <a:latin typeface="Calibri"/>
              </a:rPr>
              <a:t>•  Xác thực JWT 2 tầng bảo mật cao,
tự động làm mới không cần đăng nhập lại.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8000" y="2815200"/>
            <a:ext cx="5430599" cy="756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DF6EE"/>
                </a:solidFill>
                <a:latin typeface="Calibri"/>
              </a:rPr>
              <a:t>•  Báo thức chính xác qua màn hình khóa
ngay cả trên Realme/OPPO.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8000" y="3661200"/>
            <a:ext cx="5430599" cy="756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DF6EE"/>
                </a:solidFill>
                <a:latin typeface="Calibri"/>
              </a:rPr>
              <a:t>•  Dark Mode + Bounce Click + Priority Glow
Cards cao cấp, mượt mà.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8000" y="4507200"/>
            <a:ext cx="5430599" cy="756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DF6EE"/>
                </a:solidFill>
                <a:latin typeface="Calibri"/>
              </a:rPr>
              <a:t>•  Kiến trúc Backend–Mobile tách biệt rõ
ràng, dễ mở rộng và bảo trì.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58599" y="720000"/>
            <a:ext cx="5646599" cy="5220000"/>
          </a:xfrm>
          <a:prstGeom prst="rect">
            <a:avLst/>
          </a:prstGeom>
          <a:solidFill>
            <a:srgbClr val="322318"/>
          </a:solidFill>
          <a:ln w="15240">
            <a:solidFill>
              <a:srgbClr val="E86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258599" y="720000"/>
            <a:ext cx="5646599" cy="316800"/>
          </a:xfrm>
          <a:prstGeom prst="rect">
            <a:avLst/>
          </a:prstGeom>
          <a:solidFill>
            <a:srgbClr val="E86A2E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66600" y="741600"/>
            <a:ext cx="5502599" cy="2772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🚀  HƯỚNG PHÁT TRIỂN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2599" y="1123200"/>
            <a:ext cx="5430599" cy="756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DF6EE"/>
                </a:solidFill>
                <a:latin typeface="Calibri"/>
              </a:rPr>
              <a:t>🌐  Deploy backend lên Cloud (Azure/AWS)
     dùng được trên nhiều thiết bị.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2599" y="1969200"/>
            <a:ext cx="5430599" cy="756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DF6EE"/>
                </a:solidFill>
                <a:latin typeface="Calibri"/>
              </a:rPr>
              <a:t>🔔  Tích hợp Firebase Cloud Messaging
     thay AlarmManager local.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2599" y="2815200"/>
            <a:ext cx="5430599" cy="756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DF6EE"/>
                </a:solidFill>
                <a:latin typeface="Calibri"/>
              </a:rPr>
              <a:t>👥  Chia sẻ công việc giữa nhiều người
     dùng (Team Todo Collab).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2599" y="3661200"/>
            <a:ext cx="5430599" cy="756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DF6EE"/>
                </a:solidFill>
                <a:latin typeface="Calibri"/>
              </a:rPr>
              <a:t>📊  Dashboard thống kê năng suất theo
     ngày / tuần / tháng.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2599" y="4507200"/>
            <a:ext cx="5430599" cy="756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DF6EE"/>
                </a:solidFill>
                <a:latin typeface="Calibri"/>
              </a:rPr>
              <a:t>🍎  Phát triển iOS bằng Kotlin Multiplatform
     hoặc Flutter cross-platform.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1A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16000" cy="6858000"/>
          </a:xfrm>
          <a:prstGeom prst="rect">
            <a:avLst/>
          </a:prstGeom>
          <a:solidFill>
            <a:srgbClr val="E86A2E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32000" y="151200"/>
            <a:ext cx="11617199" cy="396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DF6EE"/>
                </a:solidFill>
                <a:latin typeface="Calibri"/>
              </a:rPr>
              <a:t>TÀI LIỆU THAM KHẢO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568800"/>
            <a:ext cx="8640000" cy="25200"/>
          </a:xfrm>
          <a:prstGeom prst="rect">
            <a:avLst/>
          </a:prstGeom>
          <a:solidFill>
            <a:srgbClr val="E86A2E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32000" y="720000"/>
            <a:ext cx="11473200" cy="5616000"/>
          </a:xfrm>
          <a:prstGeom prst="rect">
            <a:avLst/>
          </a:prstGeom>
          <a:solidFill>
            <a:srgbClr val="322318"/>
          </a:solidFill>
          <a:ln w="12700">
            <a:solidFill>
              <a:srgbClr val="422F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3999" y="846000"/>
            <a:ext cx="11329200" cy="612000"/>
          </a:xfrm>
          <a:prstGeom prst="rect">
            <a:avLst/>
          </a:prstGeom>
          <a:solidFill>
            <a:srgbClr val="422F2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76000" y="889200"/>
            <a:ext cx="540000" cy="503999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86A2E"/>
                </a:solidFill>
                <a:latin typeface="Calibri"/>
              </a:rPr>
              <a:t>[1]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000" y="874800"/>
            <a:ext cx="9673200" cy="270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DF6EE"/>
                </a:solidFill>
                <a:latin typeface="Calibri"/>
              </a:rPr>
              <a:t>Jetpack Compose Documentation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000" y="1162800"/>
            <a:ext cx="9673200" cy="234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B8A28A"/>
                </a:solidFill>
                <a:latin typeface="Calibri"/>
              </a:rPr>
              <a:t>Android Developers  –  developer.android.com/jetpack/compose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3999" y="1530000"/>
            <a:ext cx="11329200" cy="612000"/>
          </a:xfrm>
          <a:prstGeom prst="rect">
            <a:avLst/>
          </a:prstGeom>
          <a:solidFill>
            <a:srgbClr val="322318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76000" y="1573200"/>
            <a:ext cx="540000" cy="503999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86A2E"/>
                </a:solidFill>
                <a:latin typeface="Calibri"/>
              </a:rPr>
              <a:t>[2]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52000" y="1558800"/>
            <a:ext cx="9673200" cy="270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DF6EE"/>
                </a:solidFill>
                <a:latin typeface="Calibri"/>
              </a:rPr>
              <a:t>.NET Core WebAPI &amp; ASP.NET Identity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2000" y="1846800"/>
            <a:ext cx="9673200" cy="234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B8A28A"/>
                </a:solidFill>
                <a:latin typeface="Calibri"/>
              </a:rPr>
              <a:t>Microsoft Docs  –  learn.microsoft.com/aspnet/core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3999" y="2214000"/>
            <a:ext cx="11329200" cy="612000"/>
          </a:xfrm>
          <a:prstGeom prst="rect">
            <a:avLst/>
          </a:prstGeom>
          <a:solidFill>
            <a:srgbClr val="422F2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76000" y="2257200"/>
            <a:ext cx="540000" cy="503999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86A2E"/>
                </a:solidFill>
                <a:latin typeface="Calibri"/>
              </a:rPr>
              <a:t>[3]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52000" y="2242800"/>
            <a:ext cx="9673200" cy="270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DF6EE"/>
                </a:solidFill>
                <a:latin typeface="Calibri"/>
              </a:rPr>
              <a:t>JSON Web Tokens – Introduction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52000" y="2530800"/>
            <a:ext cx="9673200" cy="234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B8A28A"/>
                </a:solidFill>
                <a:latin typeface="Calibri"/>
              </a:rPr>
              <a:t>JWT.io  –  jwt.io/introduction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3999" y="2897999"/>
            <a:ext cx="11329200" cy="612000"/>
          </a:xfrm>
          <a:prstGeom prst="rect">
            <a:avLst/>
          </a:prstGeom>
          <a:solidFill>
            <a:srgbClr val="322318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76000" y="2941199"/>
            <a:ext cx="540000" cy="503999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86A2E"/>
                </a:solidFill>
                <a:latin typeface="Calibri"/>
              </a:rPr>
              <a:t>[4]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2000" y="2926799"/>
            <a:ext cx="9673200" cy="270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DF6EE"/>
                </a:solidFill>
                <a:latin typeface="Calibri"/>
              </a:rPr>
              <a:t>AlarmManager – Schedule repeating alarms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2000" y="3214800"/>
            <a:ext cx="9673200" cy="234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B8A28A"/>
                </a:solidFill>
                <a:latin typeface="Calibri"/>
              </a:rPr>
              <a:t>Android Developers  –  developer.android.com/training/scheduling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3999" y="3581999"/>
            <a:ext cx="11329200" cy="612000"/>
          </a:xfrm>
          <a:prstGeom prst="rect">
            <a:avLst/>
          </a:prstGeom>
          <a:solidFill>
            <a:srgbClr val="422F2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76000" y="3625199"/>
            <a:ext cx="540000" cy="503999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86A2E"/>
                </a:solidFill>
                <a:latin typeface="Calibri"/>
              </a:rPr>
              <a:t>[5]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52000" y="3610800"/>
            <a:ext cx="9673200" cy="270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DF6EE"/>
                </a:solidFill>
                <a:latin typeface="Calibri"/>
              </a:rPr>
              <a:t>EncryptedSharedPreferences (Jetpack Security)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52000" y="3898800"/>
            <a:ext cx="9673200" cy="234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B8A28A"/>
                </a:solidFill>
                <a:latin typeface="Calibri"/>
              </a:rPr>
              <a:t>Android Developers  –  developer.android.com/topic/security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3999" y="4266000"/>
            <a:ext cx="11329200" cy="612000"/>
          </a:xfrm>
          <a:prstGeom prst="rect">
            <a:avLst/>
          </a:prstGeom>
          <a:solidFill>
            <a:srgbClr val="322318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76000" y="4309200"/>
            <a:ext cx="540000" cy="503999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86A2E"/>
                </a:solidFill>
                <a:latin typeface="Calibri"/>
              </a:rPr>
              <a:t>[6]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52000" y="4294800"/>
            <a:ext cx="9673200" cy="270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DF6EE"/>
                </a:solidFill>
                <a:latin typeface="Calibri"/>
              </a:rPr>
              <a:t>Coroutines Guide – Async programming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52000" y="4582800"/>
            <a:ext cx="9673200" cy="234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B8A28A"/>
                </a:solidFill>
                <a:latin typeface="Calibri"/>
              </a:rPr>
              <a:t>Kotlin  –  kotlinlang.org/docs/coroutines-overview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3999" y="4949999"/>
            <a:ext cx="11329200" cy="612000"/>
          </a:xfrm>
          <a:prstGeom prst="rect">
            <a:avLst/>
          </a:prstGeom>
          <a:solidFill>
            <a:srgbClr val="422F2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76000" y="4993199"/>
            <a:ext cx="540000" cy="503999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86A2E"/>
                </a:solidFill>
                <a:latin typeface="Calibri"/>
              </a:rPr>
              <a:t>[7]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52000" y="4978799"/>
            <a:ext cx="9673200" cy="270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DF6EE"/>
                </a:solidFill>
                <a:latin typeface="Calibri"/>
              </a:rPr>
              <a:t>MVVM Architecture Guide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52000" y="5266800"/>
            <a:ext cx="9673200" cy="234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B8A28A"/>
                </a:solidFill>
                <a:latin typeface="Calibri"/>
              </a:rPr>
              <a:t>Android Developers  –  developer.android.com/topic/architecture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3999" y="5633999"/>
            <a:ext cx="11329200" cy="612000"/>
          </a:xfrm>
          <a:prstGeom prst="rect">
            <a:avLst/>
          </a:prstGeom>
          <a:solidFill>
            <a:srgbClr val="322318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76000" y="5677199"/>
            <a:ext cx="540000" cy="503999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86A2E"/>
                </a:solidFill>
                <a:latin typeface="Calibri"/>
              </a:rPr>
              <a:t>[8]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52000" y="5662799"/>
            <a:ext cx="9673200" cy="270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DF6EE"/>
                </a:solidFill>
                <a:latin typeface="Calibri"/>
              </a:rPr>
              <a:t>Source Code – Nhóm 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52000" y="5950799"/>
            <a:ext cx="9673200" cy="234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B8A28A"/>
                </a:solidFill>
                <a:latin typeface="Calibri"/>
              </a:rPr>
              <a:t>GitHub  –  github.com/Hao92322/LTDPTMobileApp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1A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216000"/>
          </a:xfrm>
          <a:prstGeom prst="rect">
            <a:avLst/>
          </a:prstGeom>
          <a:solidFill>
            <a:srgbClr val="E86A2E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642000"/>
            <a:ext cx="12193200" cy="216000"/>
          </a:xfrm>
          <a:prstGeom prst="rect">
            <a:avLst/>
          </a:prstGeom>
          <a:solidFill>
            <a:srgbClr val="E86A2E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80000" y="1152000"/>
            <a:ext cx="11833200" cy="1152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ctr"/>
            <a:r>
              <a:rPr sz="7000" b="0">
                <a:solidFill>
                  <a:srgbClr val="E86A2E"/>
                </a:solidFill>
                <a:latin typeface="Calibri"/>
              </a:rPr>
              <a:t>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0000" y="2700000"/>
            <a:ext cx="11833200" cy="864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ctr"/>
            <a:r>
              <a:rPr sz="3500" b="1">
                <a:solidFill>
                  <a:srgbClr val="FDF6EE"/>
                </a:solidFill>
                <a:latin typeface="Calibri"/>
              </a:rPr>
              <a:t>XIN CẢM ƠN THẦY ĐÃ LẮNG NGHE!</a:t>
            </a:r>
          </a:p>
        </p:txBody>
      </p:sp>
      <p:sp>
        <p:nvSpPr>
          <p:cNvPr id="6" name="Rectangle 5"/>
          <p:cNvSpPr/>
          <p:nvPr/>
        </p:nvSpPr>
        <p:spPr>
          <a:xfrm>
            <a:off x="3780000" y="3654000"/>
            <a:ext cx="4608000" cy="25200"/>
          </a:xfrm>
          <a:prstGeom prst="rect">
            <a:avLst/>
          </a:prstGeom>
          <a:solidFill>
            <a:srgbClr val="E86A2E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0000" y="3761999"/>
            <a:ext cx="11833200" cy="288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B8A28A"/>
                </a:solidFill>
                <a:latin typeface="Calibri"/>
              </a:rPr>
              <a:t>Nhóm 5  –  changlinhngulam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0000" y="4104000"/>
            <a:ext cx="11833200" cy="2592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E86A2E"/>
                </a:solidFill>
                <a:latin typeface="Calibri"/>
              </a:rPr>
              <a:t>🔗  github.com/Hao92322/LTDPTMobileApp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0000" y="4572000"/>
            <a:ext cx="11833200" cy="2952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E86A2E"/>
                </a:solidFill>
                <a:latin typeface="Calibri"/>
              </a:rPr>
              <a:t>Câu hỏi &amp; Thảo luận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8199" y="4968000"/>
            <a:ext cx="2015999" cy="1674000"/>
          </a:xfrm>
          <a:prstGeom prst="rect">
            <a:avLst/>
          </a:prstGeom>
          <a:solidFill>
            <a:srgbClr val="322318"/>
          </a:solidFill>
          <a:ln w="22860">
            <a:solidFill>
              <a:srgbClr val="E86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2199" y="5040000"/>
            <a:ext cx="1908000" cy="3168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FDF6EE"/>
                </a:solidFill>
                <a:latin typeface="Calibri"/>
              </a:rPr>
              <a:t>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199" y="5400000"/>
            <a:ext cx="1872000" cy="306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ctr"/>
            <a:r>
              <a:rPr sz="1050" b="1">
                <a:solidFill>
                  <a:srgbClr val="FDF6EE"/>
                </a:solidFill>
                <a:latin typeface="Calibri"/>
              </a:rPr>
              <a:t>Trần Văn Nam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4199" y="5742000"/>
            <a:ext cx="1944000" cy="234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E86A2E"/>
                </a:solidFill>
                <a:latin typeface="Calibri"/>
              </a:rPr>
              <a:t>Trưởng nhóm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03399" y="4968000"/>
            <a:ext cx="2015999" cy="1674000"/>
          </a:xfrm>
          <a:prstGeom prst="rect">
            <a:avLst/>
          </a:prstGeom>
          <a:solidFill>
            <a:srgbClr val="322318"/>
          </a:solidFill>
          <a:ln w="8890">
            <a:solidFill>
              <a:srgbClr val="553A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957399" y="5040000"/>
            <a:ext cx="1908000" cy="3168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FDF6EE"/>
                </a:solidFill>
                <a:latin typeface="Calibri"/>
              </a:rPr>
              <a:t>⚙️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75399" y="5400000"/>
            <a:ext cx="1872000" cy="306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ctr"/>
            <a:r>
              <a:rPr sz="1050" b="1">
                <a:solidFill>
                  <a:srgbClr val="FDF6EE"/>
                </a:solidFill>
                <a:latin typeface="Calibri"/>
              </a:rPr>
              <a:t>Phan Gia Bảo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39399" y="5742000"/>
            <a:ext cx="1944000" cy="234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B8A28A"/>
                </a:solidFill>
                <a:latin typeface="Calibri"/>
              </a:rPr>
              <a:t>Backend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88599" y="4968000"/>
            <a:ext cx="2015999" cy="1674000"/>
          </a:xfrm>
          <a:prstGeom prst="rect">
            <a:avLst/>
          </a:prstGeom>
          <a:solidFill>
            <a:srgbClr val="322318"/>
          </a:solidFill>
          <a:ln w="8890">
            <a:solidFill>
              <a:srgbClr val="553A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142599" y="5040000"/>
            <a:ext cx="1908000" cy="3168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FDF6EE"/>
                </a:solidFill>
                <a:latin typeface="Calibri"/>
              </a:rPr>
              <a:t>⚙️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60599" y="5400000"/>
            <a:ext cx="1872000" cy="306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ctr"/>
            <a:r>
              <a:rPr sz="1050" b="1">
                <a:solidFill>
                  <a:srgbClr val="FDF6EE"/>
                </a:solidFill>
                <a:latin typeface="Calibri"/>
              </a:rPr>
              <a:t>Lục Vĩn Khang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4599" y="5742000"/>
            <a:ext cx="1944000" cy="234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B8A28A"/>
                </a:solidFill>
                <a:latin typeface="Calibri"/>
              </a:rPr>
              <a:t>Backend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73799" y="4968000"/>
            <a:ext cx="2015999" cy="1674000"/>
          </a:xfrm>
          <a:prstGeom prst="rect">
            <a:avLst/>
          </a:prstGeom>
          <a:solidFill>
            <a:srgbClr val="322318"/>
          </a:solidFill>
          <a:ln w="8890">
            <a:solidFill>
              <a:srgbClr val="553A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327799" y="5040000"/>
            <a:ext cx="1908000" cy="3168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FDF6EE"/>
                </a:solidFill>
                <a:latin typeface="Calibri"/>
              </a:rPr>
              <a:t>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45799" y="5400000"/>
            <a:ext cx="1872000" cy="306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ctr"/>
            <a:r>
              <a:rPr sz="1050" b="1">
                <a:solidFill>
                  <a:srgbClr val="FDF6EE"/>
                </a:solidFill>
                <a:latin typeface="Calibri"/>
              </a:rPr>
              <a:t>Nguyễn Kha Gia Hào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09800" y="5742000"/>
            <a:ext cx="1944000" cy="234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B8A28A"/>
                </a:solidFill>
                <a:latin typeface="Calibri"/>
              </a:rPr>
              <a:t>Frontend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59000" y="4968000"/>
            <a:ext cx="2015999" cy="1674000"/>
          </a:xfrm>
          <a:prstGeom prst="rect">
            <a:avLst/>
          </a:prstGeom>
          <a:solidFill>
            <a:srgbClr val="322318"/>
          </a:solidFill>
          <a:ln w="8890">
            <a:solidFill>
              <a:srgbClr val="553A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512999" y="5040000"/>
            <a:ext cx="1908000" cy="3168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FDF6EE"/>
                </a:solidFill>
                <a:latin typeface="Calibri"/>
              </a:rPr>
              <a:t>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31000" y="5400000"/>
            <a:ext cx="1872000" cy="306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ctr"/>
            <a:r>
              <a:rPr sz="1050" b="1">
                <a:solidFill>
                  <a:srgbClr val="FDF6EE"/>
                </a:solidFill>
                <a:latin typeface="Calibri"/>
              </a:rPr>
              <a:t>Huỳnh Khánh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95000" y="5742000"/>
            <a:ext cx="1944000" cy="234000"/>
          </a:xfrm>
          <a:prstGeom prst="rect">
            <a:avLst/>
          </a:prstGeom>
          <a:noFill/>
          <a:ln>
            <a:solidFill/>
          </a:ln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B8A28A"/>
                </a:solidFill>
                <a:latin typeface="Calibri"/>
              </a:rPr>
              <a:t>Frontend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1964</Words>
  <Application>Microsoft Office PowerPoint</Application>
  <PresentationFormat>Custom</PresentationFormat>
  <Paragraphs>406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DELL DELL</cp:lastModifiedBy>
  <cp:revision>2</cp:revision>
  <dcterms:created xsi:type="dcterms:W3CDTF">2013-01-27T09:14:16Z</dcterms:created>
  <dcterms:modified xsi:type="dcterms:W3CDTF">2026-07-15T04:11:17Z</dcterms:modified>
  <cp:category/>
</cp:coreProperties>
</file>