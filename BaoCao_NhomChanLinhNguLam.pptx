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Van Nam" userId="6a501385-2df7-4abd-879a-d959d87cb90d" providerId="ADAL" clId="{DCAADF39-DD66-4693-A2CD-F9E7F3BD1B9F}"/>
    <pc:docChg chg="undo custSel addSld modSld">
      <pc:chgData name="Tran Van Nam" userId="6a501385-2df7-4abd-879a-d959d87cb90d" providerId="ADAL" clId="{DCAADF39-DD66-4693-A2CD-F9E7F3BD1B9F}" dt="2026-07-16T04:25:53.825" v="50" actId="255"/>
      <pc:docMkLst>
        <pc:docMk/>
      </pc:docMkLst>
      <pc:sldChg chg="delSp mod">
        <pc:chgData name="Tran Van Nam" userId="6a501385-2df7-4abd-879a-d959d87cb90d" providerId="ADAL" clId="{DCAADF39-DD66-4693-A2CD-F9E7F3BD1B9F}" dt="2026-07-15T06:44:16.499" v="3" actId="478"/>
        <pc:sldMkLst>
          <pc:docMk/>
          <pc:sldMk cId="0" sldId="257"/>
        </pc:sldMkLst>
        <pc:spChg chg="del">
          <ac:chgData name="Tran Van Nam" userId="6a501385-2df7-4abd-879a-d959d87cb90d" providerId="ADAL" clId="{DCAADF39-DD66-4693-A2CD-F9E7F3BD1B9F}" dt="2026-07-15T06:44:13.391" v="1" actId="478"/>
          <ac:spMkLst>
            <pc:docMk/>
            <pc:sldMk cId="0" sldId="257"/>
            <ac:spMk id="41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16.499" v="3" actId="478"/>
          <ac:spMkLst>
            <pc:docMk/>
            <pc:sldMk cId="0" sldId="257"/>
            <ac:spMk id="42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15.003" v="2" actId="478"/>
          <ac:spMkLst>
            <pc:docMk/>
            <pc:sldMk cId="0" sldId="257"/>
            <ac:spMk id="43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4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5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6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7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8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9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50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51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54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55" creationId="{00000000-0000-0000-0000-000000000000}"/>
          </ac:spMkLst>
        </pc:spChg>
      </pc:sldChg>
      <pc:sldChg chg="modSp mod">
        <pc:chgData name="Tran Van Nam" userId="6a501385-2df7-4abd-879a-d959d87cb90d" providerId="ADAL" clId="{DCAADF39-DD66-4693-A2CD-F9E7F3BD1B9F}" dt="2026-07-16T04:25:53.825" v="50" actId="255"/>
        <pc:sldMkLst>
          <pc:docMk/>
          <pc:sldMk cId="0" sldId="259"/>
        </pc:sldMkLst>
        <pc:spChg chg="mod">
          <ac:chgData name="Tran Van Nam" userId="6a501385-2df7-4abd-879a-d959d87cb90d" providerId="ADAL" clId="{DCAADF39-DD66-4693-A2CD-F9E7F3BD1B9F}" dt="2026-07-16T04:25:53.825" v="50" actId="255"/>
          <ac:spMkLst>
            <pc:docMk/>
            <pc:sldMk cId="0" sldId="259"/>
            <ac:spMk id="51" creationId="{00000000-0000-0000-0000-000000000000}"/>
          </ac:spMkLst>
        </pc:spChg>
      </pc:sldChg>
      <pc:sldChg chg="modSp mod">
        <pc:chgData name="Tran Van Nam" userId="6a501385-2df7-4abd-879a-d959d87cb90d" providerId="ADAL" clId="{DCAADF39-DD66-4693-A2CD-F9E7F3BD1B9F}" dt="2026-07-15T07:04:27.903" v="47" actId="20577"/>
        <pc:sldMkLst>
          <pc:docMk/>
          <pc:sldMk cId="0" sldId="263"/>
        </pc:sldMkLst>
        <pc:spChg chg="mod">
          <ac:chgData name="Tran Van Nam" userId="6a501385-2df7-4abd-879a-d959d87cb90d" providerId="ADAL" clId="{DCAADF39-DD66-4693-A2CD-F9E7F3BD1B9F}" dt="2026-07-15T07:03:21.184" v="31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3:04.318" v="25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3:29.591" v="33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3:41.026" v="3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4:01.310" v="41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4:11.402" v="45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4:27.903" v="47" actId="20577"/>
          <ac:spMkLst>
            <pc:docMk/>
            <pc:sldMk cId="0" sldId="263"/>
            <ac:spMk id="27" creationId="{00000000-0000-0000-0000-000000000000}"/>
          </ac:spMkLst>
        </pc:spChg>
      </pc:sldChg>
      <pc:sldChg chg="delSp modSp mod">
        <pc:chgData name="Tran Van Nam" userId="6a501385-2df7-4abd-879a-d959d87cb90d" providerId="ADAL" clId="{DCAADF39-DD66-4693-A2CD-F9E7F3BD1B9F}" dt="2026-07-15T06:47:49.776" v="13" actId="478"/>
        <pc:sldMkLst>
          <pc:docMk/>
          <pc:sldMk cId="0" sldId="270"/>
        </pc:sldMkLst>
        <pc:spChg chg="del">
          <ac:chgData name="Tran Van Nam" userId="6a501385-2df7-4abd-879a-d959d87cb90d" providerId="ADAL" clId="{DCAADF39-DD66-4693-A2CD-F9E7F3BD1B9F}" dt="2026-07-15T06:47:35.096" v="10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6:47:42.764" v="11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6:47:26.273" v="9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6:47:21.461" v="5" actId="1076"/>
          <ac:spMkLst>
            <pc:docMk/>
            <pc:sldMk cId="0" sldId="270"/>
            <ac:spMk id="9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5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16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17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8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1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22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23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4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5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26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27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8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9" creationId="{00000000-0000-0000-0000-000000000000}"/>
          </ac:spMkLst>
        </pc:spChg>
      </pc:sldChg>
      <pc:sldChg chg="delSp modSp add mod">
        <pc:chgData name="Tran Van Nam" userId="6a501385-2df7-4abd-879a-d959d87cb90d" providerId="ADAL" clId="{DCAADF39-DD66-4693-A2CD-F9E7F3BD1B9F}" dt="2026-07-15T06:48:28.902" v="24" actId="255"/>
        <pc:sldMkLst>
          <pc:docMk/>
          <pc:sldMk cId="3350887960" sldId="272"/>
        </pc:sldMkLst>
        <pc:spChg chg="del">
          <ac:chgData name="Tran Van Nam" userId="6a501385-2df7-4abd-879a-d959d87cb90d" providerId="ADAL" clId="{DCAADF39-DD66-4693-A2CD-F9E7F3BD1B9F}" dt="2026-07-15T06:48:11.732" v="19" actId="478"/>
          <ac:spMkLst>
            <pc:docMk/>
            <pc:sldMk cId="3350887960" sldId="272"/>
            <ac:spMk id="5" creationId="{A626C918-872F-3275-6D5F-8D7C881ECAFC}"/>
          </ac:spMkLst>
        </pc:spChg>
        <pc:spChg chg="del">
          <ac:chgData name="Tran Van Nam" userId="6a501385-2df7-4abd-879a-d959d87cb90d" providerId="ADAL" clId="{DCAADF39-DD66-4693-A2CD-F9E7F3BD1B9F}" dt="2026-07-15T06:48:01.057" v="15" actId="478"/>
          <ac:spMkLst>
            <pc:docMk/>
            <pc:sldMk cId="3350887960" sldId="272"/>
            <ac:spMk id="6" creationId="{B33CD248-37FA-84CC-308D-220CCA9B0ECD}"/>
          </ac:spMkLst>
        </pc:spChg>
        <pc:spChg chg="del">
          <ac:chgData name="Tran Van Nam" userId="6a501385-2df7-4abd-879a-d959d87cb90d" providerId="ADAL" clId="{DCAADF39-DD66-4693-A2CD-F9E7F3BD1B9F}" dt="2026-07-15T06:48:10.052" v="18" actId="478"/>
          <ac:spMkLst>
            <pc:docMk/>
            <pc:sldMk cId="3350887960" sldId="272"/>
            <ac:spMk id="7" creationId="{E4FB336F-E817-3CD2-5858-F14B8790B2F2}"/>
          </ac:spMkLst>
        </pc:spChg>
        <pc:spChg chg="del mod">
          <ac:chgData name="Tran Van Nam" userId="6a501385-2df7-4abd-879a-d959d87cb90d" providerId="ADAL" clId="{DCAADF39-DD66-4693-A2CD-F9E7F3BD1B9F}" dt="2026-07-15T06:48:08.192" v="17" actId="478"/>
          <ac:spMkLst>
            <pc:docMk/>
            <pc:sldMk cId="3350887960" sldId="272"/>
            <ac:spMk id="8" creationId="{134D8A98-BAC8-712B-C51C-152317F1BB0B}"/>
          </ac:spMkLst>
        </pc:spChg>
        <pc:spChg chg="mod">
          <ac:chgData name="Tran Van Nam" userId="6a501385-2df7-4abd-879a-d959d87cb90d" providerId="ADAL" clId="{DCAADF39-DD66-4693-A2CD-F9E7F3BD1B9F}" dt="2026-07-15T06:48:28.902" v="24" actId="255"/>
          <ac:spMkLst>
            <pc:docMk/>
            <pc:sldMk cId="3350887960" sldId="272"/>
            <ac:spMk id="9" creationId="{58012640-4416-3449-C699-D7E9308C97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254" y="2397976"/>
            <a:ext cx="11833200" cy="83099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DF6EE"/>
                </a:solidFill>
                <a:latin typeface="Calibri"/>
              </a:rPr>
              <a:t>ỨNG DỤNG QUẢN LÝ
CÔNG VIỆC &amp; NHẮC NHỞ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38475"/>
            <a:ext cx="11833200" cy="461665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6A2E"/>
                </a:solidFill>
                <a:latin typeface="Calibri"/>
              </a:rPr>
              <a:t>TodoList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8001"/>
            <a:ext cx="12301870" cy="1384995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B8A28A"/>
                </a:solidFill>
                <a:latin typeface="Calibri"/>
              </a:rPr>
              <a:t>TRƯỜNG ĐẠI HỌC QUỐC TẾ HỒNG BÀNG</a:t>
            </a:r>
          </a:p>
          <a:p>
            <a:pPr algn="ctr"/>
            <a:r>
              <a:rPr lang="en-US" sz="2800" b="1">
                <a:solidFill>
                  <a:srgbClr val="B8A28A"/>
                </a:solidFill>
                <a:latin typeface="Calibri"/>
              </a:rPr>
              <a:t>KHOA CÔNG NGHỆ - KỸ THUẬT </a:t>
            </a:r>
          </a:p>
          <a:p>
            <a:pPr algn="ctr"/>
            <a:r>
              <a:rPr lang="en-US" sz="2800" b="1">
                <a:solidFill>
                  <a:srgbClr val="B8A28A"/>
                </a:solidFill>
                <a:latin typeface="Calibri"/>
              </a:rPr>
              <a:t>BỘ MÔN CÔNG NGHỆ THÔNG TIN</a:t>
            </a:r>
            <a:endParaRPr sz="2800" b="1">
              <a:solidFill>
                <a:srgbClr val="B8A28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E2DB9-F8F5-7E96-1D1B-182E5DD5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2E02DB-3040-4859-B886-DADAABE9B8B6}"/>
              </a:ext>
            </a:extLst>
          </p:cNvPr>
          <p:cNvSpPr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429CB-0702-2B72-D8C0-44B5A502BF77}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C47969-C522-9E3C-24D8-A1EB5B89FC6E}"/>
              </a:ext>
            </a:extLst>
          </p:cNvPr>
          <p:cNvSpPr txBox="1"/>
          <p:nvPr/>
        </p:nvSpPr>
        <p:spPr>
          <a:xfrm>
            <a:off x="94940" y="669446"/>
            <a:ext cx="11833200" cy="461665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B8A28A"/>
                </a:solidFill>
                <a:latin typeface="Calibri"/>
              </a:rPr>
              <a:t>Nhóm 5changlinhngulam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CFC7CC-8290-B0E9-41A8-C7FD4DE38328}"/>
              </a:ext>
            </a:extLst>
          </p:cNvPr>
          <p:cNvSpPr/>
          <p:nvPr/>
        </p:nvSpPr>
        <p:spPr>
          <a:xfrm>
            <a:off x="664199" y="1530557"/>
            <a:ext cx="2015999" cy="1116000"/>
          </a:xfrm>
          <a:prstGeom prst="rect">
            <a:avLst/>
          </a:prstGeom>
          <a:solidFill>
            <a:srgbClr val="322318"/>
          </a:solidFill>
          <a:ln w="228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886EA0-8114-4293-B07C-12E86267C4A9}"/>
              </a:ext>
            </a:extLst>
          </p:cNvPr>
          <p:cNvSpPr txBox="1"/>
          <p:nvPr/>
        </p:nvSpPr>
        <p:spPr>
          <a:xfrm>
            <a:off x="700199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4313B-D688-D6BA-C8E2-AB8439CE872F}"/>
              </a:ext>
            </a:extLst>
          </p:cNvPr>
          <p:cNvSpPr txBox="1"/>
          <p:nvPr/>
        </p:nvSpPr>
        <p:spPr>
          <a:xfrm>
            <a:off x="718199" y="1926557"/>
            <a:ext cx="1908000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Calibri"/>
              </a:rPr>
              <a:t>Trần Văn Nam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F98B-B655-1488-F1E3-1BE88CA02D8D}"/>
              </a:ext>
            </a:extLst>
          </p:cNvPr>
          <p:cNvSpPr txBox="1"/>
          <p:nvPr/>
        </p:nvSpPr>
        <p:spPr>
          <a:xfrm>
            <a:off x="700199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6A2E"/>
                </a:solidFill>
                <a:latin typeface="Calibri"/>
              </a:rPr>
              <a:t>Trưởng nhóm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2FB582-FEBC-BC1B-2E55-DD37C7B28A2C}"/>
              </a:ext>
            </a:extLst>
          </p:cNvPr>
          <p:cNvSpPr/>
          <p:nvPr/>
        </p:nvSpPr>
        <p:spPr>
          <a:xfrm>
            <a:off x="2849399" y="1530557"/>
            <a:ext cx="2015999" cy="1116000"/>
          </a:xfrm>
          <a:prstGeom prst="rect">
            <a:avLst/>
          </a:prstGeom>
          <a:solidFill>
            <a:srgbClr val="322318"/>
          </a:solidFill>
          <a:ln w="10160">
            <a:solidFill>
              <a:srgbClr val="5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FB04C2-CBF9-5871-F848-287C6E598670}"/>
              </a:ext>
            </a:extLst>
          </p:cNvPr>
          <p:cNvSpPr txBox="1"/>
          <p:nvPr/>
        </p:nvSpPr>
        <p:spPr>
          <a:xfrm>
            <a:off x="2885399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⚙️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F679AE-6BA2-AB17-86FA-69BEC0022C64}"/>
              </a:ext>
            </a:extLst>
          </p:cNvPr>
          <p:cNvSpPr txBox="1"/>
          <p:nvPr/>
        </p:nvSpPr>
        <p:spPr>
          <a:xfrm>
            <a:off x="2903399" y="1926557"/>
            <a:ext cx="1908000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Calibri"/>
              </a:rPr>
              <a:t>Phan Gia Bảo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64404D-161A-151E-2166-521A9A8AA1BE}"/>
              </a:ext>
            </a:extLst>
          </p:cNvPr>
          <p:cNvSpPr txBox="1"/>
          <p:nvPr/>
        </p:nvSpPr>
        <p:spPr>
          <a:xfrm>
            <a:off x="2885399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A28A"/>
                </a:solidFill>
                <a:latin typeface="Calibri"/>
              </a:rPr>
              <a:t>Backend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8AF8BC-D89D-2031-5B59-5C413AD57C46}"/>
              </a:ext>
            </a:extLst>
          </p:cNvPr>
          <p:cNvSpPr/>
          <p:nvPr/>
        </p:nvSpPr>
        <p:spPr>
          <a:xfrm>
            <a:off x="5034599" y="1530557"/>
            <a:ext cx="2015999" cy="1116000"/>
          </a:xfrm>
          <a:prstGeom prst="rect">
            <a:avLst/>
          </a:prstGeom>
          <a:solidFill>
            <a:srgbClr val="322318"/>
          </a:solidFill>
          <a:ln w="10160">
            <a:solidFill>
              <a:srgbClr val="5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FDC515-4027-0194-FCC4-AF4461B52F8B}"/>
              </a:ext>
            </a:extLst>
          </p:cNvPr>
          <p:cNvSpPr txBox="1"/>
          <p:nvPr/>
        </p:nvSpPr>
        <p:spPr>
          <a:xfrm>
            <a:off x="5070599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⚙️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36FCC3-851D-F11A-A770-F1C1372768F6}"/>
              </a:ext>
            </a:extLst>
          </p:cNvPr>
          <p:cNvSpPr txBox="1"/>
          <p:nvPr/>
        </p:nvSpPr>
        <p:spPr>
          <a:xfrm>
            <a:off x="5088599" y="1926557"/>
            <a:ext cx="1908000" cy="246221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Calibri"/>
              </a:rPr>
              <a:t>Lục Vĩn</a:t>
            </a:r>
            <a:r>
              <a:rPr lang="en-US" sz="1000" b="1">
                <a:solidFill>
                  <a:srgbClr val="FDF6EE"/>
                </a:solidFill>
                <a:latin typeface="Calibri"/>
              </a:rPr>
              <a:t>h</a:t>
            </a:r>
            <a:r>
              <a:rPr sz="1000" b="1">
                <a:solidFill>
                  <a:srgbClr val="FDF6EE"/>
                </a:solidFill>
                <a:latin typeface="Calibri"/>
              </a:rPr>
              <a:t> Khang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D45C3F-BA93-4A14-3FA4-55E5942081C5}"/>
              </a:ext>
            </a:extLst>
          </p:cNvPr>
          <p:cNvSpPr txBox="1"/>
          <p:nvPr/>
        </p:nvSpPr>
        <p:spPr>
          <a:xfrm>
            <a:off x="5070599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A28A"/>
                </a:solidFill>
                <a:latin typeface="Calibri"/>
              </a:rPr>
              <a:t>Backend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AB895A-BAF4-48A9-8541-DD6E5A66DE28}"/>
              </a:ext>
            </a:extLst>
          </p:cNvPr>
          <p:cNvSpPr/>
          <p:nvPr/>
        </p:nvSpPr>
        <p:spPr>
          <a:xfrm>
            <a:off x="7219799" y="1530557"/>
            <a:ext cx="2015999" cy="1116000"/>
          </a:xfrm>
          <a:prstGeom prst="rect">
            <a:avLst/>
          </a:prstGeom>
          <a:solidFill>
            <a:srgbClr val="322318"/>
          </a:solidFill>
          <a:ln w="10160">
            <a:solidFill>
              <a:srgbClr val="5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E29BA1-2ECD-08FC-5B98-5D5EF13642B1}"/>
              </a:ext>
            </a:extLst>
          </p:cNvPr>
          <p:cNvSpPr txBox="1"/>
          <p:nvPr/>
        </p:nvSpPr>
        <p:spPr>
          <a:xfrm>
            <a:off x="7255800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419049-EA84-B26B-981E-87315095F81D}"/>
              </a:ext>
            </a:extLst>
          </p:cNvPr>
          <p:cNvSpPr txBox="1"/>
          <p:nvPr/>
        </p:nvSpPr>
        <p:spPr>
          <a:xfrm>
            <a:off x="7273799" y="1926557"/>
            <a:ext cx="1908000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Calibri"/>
              </a:rPr>
              <a:t>Nguyễn Kha Gia Hào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EA6D26-8218-04FB-73A4-1C38872782CA}"/>
              </a:ext>
            </a:extLst>
          </p:cNvPr>
          <p:cNvSpPr txBox="1"/>
          <p:nvPr/>
        </p:nvSpPr>
        <p:spPr>
          <a:xfrm>
            <a:off x="7255800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A28A"/>
                </a:solidFill>
                <a:latin typeface="Calibri"/>
              </a:rPr>
              <a:t>Frontend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B1050C-C54F-79AB-3C33-680717C4E64E}"/>
              </a:ext>
            </a:extLst>
          </p:cNvPr>
          <p:cNvSpPr/>
          <p:nvPr/>
        </p:nvSpPr>
        <p:spPr>
          <a:xfrm>
            <a:off x="9405000" y="1530557"/>
            <a:ext cx="2015999" cy="1116000"/>
          </a:xfrm>
          <a:prstGeom prst="rect">
            <a:avLst/>
          </a:prstGeom>
          <a:solidFill>
            <a:srgbClr val="322318"/>
          </a:solidFill>
          <a:ln w="10160">
            <a:solidFill>
              <a:srgbClr val="5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371037-9384-1EB1-1C2D-952BBDC04DEB}"/>
              </a:ext>
            </a:extLst>
          </p:cNvPr>
          <p:cNvSpPr txBox="1"/>
          <p:nvPr/>
        </p:nvSpPr>
        <p:spPr>
          <a:xfrm>
            <a:off x="9441000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1EE255-2116-6770-D249-A90113F0B203}"/>
              </a:ext>
            </a:extLst>
          </p:cNvPr>
          <p:cNvSpPr txBox="1"/>
          <p:nvPr/>
        </p:nvSpPr>
        <p:spPr>
          <a:xfrm>
            <a:off x="9458999" y="1926557"/>
            <a:ext cx="1908000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DF6EE"/>
                </a:solidFill>
                <a:latin typeface="Calibri"/>
              </a:rPr>
              <a:t>Huỳnh Khánh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832E92-2217-9C22-084B-A19D000C162C}"/>
              </a:ext>
            </a:extLst>
          </p:cNvPr>
          <p:cNvSpPr txBox="1"/>
          <p:nvPr/>
        </p:nvSpPr>
        <p:spPr>
          <a:xfrm>
            <a:off x="9441000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A28A"/>
                </a:solidFill>
                <a:latin typeface="Calibri"/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240861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473200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DF6EE"/>
                </a:solidFill>
                <a:latin typeface="Calibri"/>
              </a:rPr>
              <a:t>NỘI DUNG BÁO CÁO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58000"/>
            <a:ext cx="1008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66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2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999" y="75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Mở đầu – Tổng quan &amp; Mục tiêu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8599" y="66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6599" y="72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2599" y="75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Tech Stack – Kiến trúc hệ thống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20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000" y="126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999" y="129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Cơ sở dữ liệu &amp; Mô hình dữ liệu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8599" y="120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6599" y="126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2599" y="129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Chức năng chính của ứng dụng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745999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000" y="180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999" y="183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Tính năng Báo thức thông minh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8599" y="1745999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6599" y="180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2599" y="183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Giao diện UI/UX &amp; Micro-interactions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228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0000" y="234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999" y="237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Giới thiệu Code – Backend (JWT / Auth)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8599" y="228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66599" y="234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2599" y="237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Giới thiệu Code – Frontend (Compose / ViewModel)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282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0000" y="288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5999" y="291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Giới thiệu Code – Báo thức (AlarmReceiver)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8599" y="282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6599" y="288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2599" y="291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Demo luồng sử dụng thực tế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336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0000" y="342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5999" y="345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Kết luận &amp; Hướng phát triển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8599" y="336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66599" y="342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2599" y="345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Tài liệu tham khảo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01  –  MỞ ĐẦU &amp; TỔNG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646599" cy="5220000"/>
          </a:xfrm>
          <a:prstGeom prst="rect">
            <a:avLst/>
          </a:prstGeom>
          <a:solidFill>
            <a:srgbClr val="322318"/>
          </a:solidFill>
          <a:ln w="6350">
            <a:solidFill>
              <a:srgbClr val="422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827999"/>
            <a:ext cx="54665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2E"/>
                </a:solidFill>
                <a:latin typeface="Calibri"/>
              </a:rPr>
              <a:t>❓  VẤN ĐỀ ĐẶT 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206000"/>
            <a:ext cx="5394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Cuộc sống hiện đại nhiều công việc song song,
dễ quên và bỏ lỡ deadline quan trọng.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178000"/>
            <a:ext cx="5394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Các app thường thiếu tính năng nhắc nhở
chính xác khi điện thoại đang khóa.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3150000"/>
            <a:ext cx="5394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Không phân loại được mức độ ưu tiên,
khó quản lý khi có nhiều task cùng lúc.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4122000"/>
            <a:ext cx="5394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Thiếu giao diện trực quan và phản hồi
mượt mà khi chạm.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8599" y="720000"/>
            <a:ext cx="5646599" cy="5220000"/>
          </a:xfrm>
          <a:prstGeom prst="rect">
            <a:avLst/>
          </a:prstGeom>
          <a:solidFill>
            <a:srgbClr val="322318"/>
          </a:solidFill>
          <a:ln w="6350">
            <a:solidFill>
              <a:srgbClr val="422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2599" y="827999"/>
            <a:ext cx="54665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2E"/>
                </a:solidFill>
                <a:latin typeface="Calibri"/>
              </a:rPr>
              <a:t>🎯  MỤC TIÊU DỰ 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2599" y="1206000"/>
            <a:ext cx="5430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✅  Xây dựng app quản lý công việc theo
     danh mục + mức độ ưu tiên.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2599" y="2178000"/>
            <a:ext cx="5430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✅  Báo thức chính xác ngay cả khi app
     chạy ngầm / màn hình khóa.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2599" y="3150000"/>
            <a:ext cx="5430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✅  Giao diện mượt mà với hiệu ứng vật lý
     lò xo Bounce Click Animation.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2599" y="4122000"/>
            <a:ext cx="5430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✅  Kiến trúc tách Backend–Mobile kết nối
     RESTful API bảo mật JWT.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030000"/>
            <a:ext cx="114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B8A28A"/>
                </a:solidFill>
                <a:latin typeface="Calibri"/>
              </a:rPr>
              <a:t>4 màn hình chính   •   3 mức ưu tiên   •   JWT Auth   •   Báo thức Full-Screen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02  –  TECH STACK &amp; KIẾN TRÚC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3704399" cy="30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37999"/>
            <a:ext cx="3560399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📱  ANDROID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3999" y="109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Kotlin + Jetpack Compose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638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999" y="1674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MVVM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214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3999" y="2250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Retrofit2 + OkHttp3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790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3999" y="2826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EncryptedSharedPreferences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366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3999" y="3401999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AlarmManager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941999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3999" y="397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Material Design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4399" y="2088000"/>
            <a:ext cx="1728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6A2E"/>
                </a:solidFill>
                <a:latin typeface="Calibri"/>
              </a:rPr>
              <a:t>◄──►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4399" y="2376000"/>
            <a:ext cx="172800" cy="32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8A28A"/>
                </a:solidFill>
                <a:latin typeface="Calibri"/>
              </a:rPr>
              <a:t>HTTP
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6399" y="720000"/>
            <a:ext cx="3704399" cy="3060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24399" y="737999"/>
            <a:ext cx="3560399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⚙️  BACKEND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6399" y="1062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8399" y="109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C# .NET Core 8 WebAPI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6399" y="1638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8399" y="1674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ASP.NET Core Identity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6399" y="2214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8399" y="2250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JWT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6399" y="2790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8399" y="2826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Entity Framework 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6399" y="3366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8399" y="3401999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Service Layer Pattern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6399" y="3941999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8399" y="397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Swagger / OpenAPI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8799" y="2088000"/>
            <a:ext cx="1728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6A2E"/>
                </a:solidFill>
                <a:latin typeface="Calibri"/>
              </a:rPr>
              <a:t>◄──►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8799" y="2376000"/>
            <a:ext cx="172800" cy="32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8A28A"/>
                </a:solidFill>
                <a:latin typeface="Calibri"/>
              </a:rPr>
              <a:t>HTTP
JSON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00799" y="720000"/>
            <a:ext cx="3704399" cy="3060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8799" y="737999"/>
            <a:ext cx="3560399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🗄️  DATABASE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0799" y="1062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2799" y="109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SQLite (file-based)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0799" y="1638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2799" y="1674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EF Core Code-First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0799" y="2214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2799" y="2250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Bảng Users (Identity)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0799" y="2790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72799" y="2826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Bảng Categories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0799" y="3366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72799" y="3401999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Bảng TodoItems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00799" y="3941999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72799" y="397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Bảng RefreshTokens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4626000"/>
            <a:ext cx="11473200" cy="40011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8A28A"/>
                </a:solidFill>
                <a:latin typeface="Calibri"/>
              </a:rPr>
              <a:t>Pattern: MVVM (Android)  +  Service Layer (Backend)   |   Giao tiếp: RESTful API + JWT Bearer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03  –  CƠ SỞ DỮ LIỆU &amp; MÔ HÌNH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2733299" cy="2952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2000" y="741600"/>
            <a:ext cx="2625299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15200"/>
            <a:ext cx="2733299" cy="2041200"/>
          </a:xfrm>
          <a:prstGeom prst="rect">
            <a:avLst/>
          </a:prstGeom>
          <a:solidFill>
            <a:srgbClr val="322318"/>
          </a:solidFill>
          <a:ln w="889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2000" y="10152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1036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Id (PK, string)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3464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13680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UserName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6776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0000" y="16992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0088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000" y="20304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PasswordHash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3400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0000" y="23616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AvatarUrl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6712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000" y="2692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CreateAt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5299" y="720000"/>
            <a:ext cx="2733299" cy="29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5299" y="741600"/>
            <a:ext cx="2625299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45299" y="1015200"/>
            <a:ext cx="2733299" cy="1047600"/>
          </a:xfrm>
          <a:prstGeom prst="rect">
            <a:avLst/>
          </a:prstGeom>
          <a:solidFill>
            <a:srgbClr val="322318"/>
          </a:solidFill>
          <a:ln w="889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45299" y="10152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53299" y="1036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Id (PK, int)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45299" y="13464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53299" y="13680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5299" y="16776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3299" y="16992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UserId (FK → Users)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8599" y="720000"/>
            <a:ext cx="2733299" cy="2952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8599" y="741600"/>
            <a:ext cx="2625299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TodoItems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8599" y="1015200"/>
            <a:ext cx="2733299" cy="2890800"/>
          </a:xfrm>
          <a:prstGeom prst="rect">
            <a:avLst/>
          </a:prstGeom>
          <a:solidFill>
            <a:srgbClr val="322318"/>
          </a:solidFill>
          <a:ln w="889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58599" y="1015200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6599" y="1036800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Id (PK)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8599" y="1330399"/>
            <a:ext cx="2733299" cy="315199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66599" y="13519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Title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8599" y="1645599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6599" y="16671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Description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8599" y="1960799"/>
            <a:ext cx="2733299" cy="315199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66599" y="19823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IsCompleted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8599" y="2275999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66599" y="22975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DueDate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8599" y="2591199"/>
            <a:ext cx="2733299" cy="315199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66599" y="26127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Priority (0/1/2)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8599" y="2906399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6599" y="2928000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CreatedAt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58599" y="3221599"/>
            <a:ext cx="2733299" cy="315199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66599" y="3243200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CategoryId (FK)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8599" y="3536799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66599" y="3558400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UserId (FK)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71899" y="720000"/>
            <a:ext cx="2733299" cy="295200"/>
          </a:xfrm>
          <a:prstGeom prst="rect">
            <a:avLst/>
          </a:prstGeom>
          <a:solidFill>
            <a:srgbClr val="9C2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61899" y="741600"/>
            <a:ext cx="2625299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RefreshTokens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71899" y="1015200"/>
            <a:ext cx="2733299" cy="2041200"/>
          </a:xfrm>
          <a:prstGeom prst="rect">
            <a:avLst/>
          </a:prstGeom>
          <a:solidFill>
            <a:srgbClr val="322318"/>
          </a:solidFill>
          <a:ln w="889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71899" y="10152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79899" y="1036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Id (PK)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71899" y="13464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79899" y="13680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Token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71899" y="16776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79899" y="16992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UserId (FK)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71899" y="20088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79899" y="20304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CreatedAt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71899" y="23400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79899" y="23616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ExpiresAt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71899" y="26712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79899" y="2692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IsRevoked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2000" y="3941999"/>
            <a:ext cx="114732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🔗  User 1─N Category   |   Category 1─N TodoItem   |   User 1─N RefreshToken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2000" y="4222799"/>
            <a:ext cx="11473200" cy="22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8A28A"/>
                </a:solidFill>
                <a:latin typeface="Calibri"/>
              </a:rPr>
              <a:t>Xóa Category → Cascade xóa TodoItems   |   Xóa User → Restrict (bảo toàn dữ liệu)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2000" y="4500000"/>
            <a:ext cx="11473200" cy="2232000"/>
          </a:xfrm>
          <a:prstGeom prst="rect">
            <a:avLst/>
          </a:prstGeom>
          <a:solidFill>
            <a:srgbClr val="322318"/>
          </a:solidFill>
          <a:ln w="12700">
            <a:solidFill>
              <a:srgbClr val="422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76000" y="4579200"/>
            <a:ext cx="11113200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📌  Kỹ thuật tầng Data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00" y="4896000"/>
            <a:ext cx="11041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•  EF Core Code-First: Model → Migration → dotnet ef database update → Bảng DB.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6000" y="5212800"/>
            <a:ext cx="11041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•  ASP.NET Core Identity: Hash mật khẩu BCrypt, normalize email, quản lý user tích hợp.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6000" y="5529600"/>
            <a:ext cx="11041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•  JWT Access (60 phút) + Refresh Token (7 ngày) lưu DB, thu hồi hoàn toàn khi Logout.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00" y="5846399"/>
            <a:ext cx="11041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•  Android: EncryptedSharedPreferences lưu token – mã hóa AES256/RSA, chống root extract.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04  –  CHỨC NĂNG CHÍNH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466599" cy="243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5466599" cy="3780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999" y="756000"/>
            <a:ext cx="5286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🔐  Xác thực &amp; Bảo mật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188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Đăng ký / Đăng nhập (Email hoặc Username)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781999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JWT Access Token + Refresh Token tự làm mới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376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Logout thu hồi token, xóa dữ liệu local an toàn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8599" y="720000"/>
            <a:ext cx="5466599" cy="243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78599" y="720000"/>
            <a:ext cx="5466599" cy="37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04600" y="756000"/>
            <a:ext cx="5286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📋  Quản lý Công việc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599" y="1188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Thêm / Sửa / Xóa / Đánh dấu hoàn thành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2599" y="1781999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3 mức độ ưu tiên: Thấp / Trung bình / 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2599" y="2376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Lọc theo ngày, danh mục, trạng thái hoàn thành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311999"/>
            <a:ext cx="5466599" cy="243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2000" y="3311999"/>
            <a:ext cx="5466599" cy="3780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999" y="3347999"/>
            <a:ext cx="5286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🗂️  Quản lý Danh mục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3780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Tạo / Đổi tên / Xóa danh mục tùy chỉnh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" y="4374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Xem Todo trong từng danh mục, search inline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968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Xóa Category → Cascade xóa Todo liên quan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78599" y="3311999"/>
            <a:ext cx="5466599" cy="243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78599" y="3311999"/>
            <a:ext cx="5466599" cy="378000"/>
          </a:xfrm>
          <a:prstGeom prst="rect">
            <a:avLst/>
          </a:prstGeom>
          <a:solidFill>
            <a:srgbClr val="F443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04600" y="3347999"/>
            <a:ext cx="5286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⏰  Báo thức &amp; Nhắc nhở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2599" y="3780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Đặt giờ nhắc theo DueDate của từng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2599" y="4374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Màn hình báo thức toàn màn hình tự đánh thức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2599" y="4968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Hoạt động khi app chạy ngầm / màn hình khóa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05  –  TÍNH NĂNG BÁO THỨC THÔNG MINH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684000"/>
            <a:ext cx="648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86A2E"/>
                </a:solidFill>
                <a:latin typeface="Calibri"/>
              </a:rPr>
              <a:t>🔄  LUỒNG 5 BƯỚC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990000"/>
            <a:ext cx="2179439" cy="2808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399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Tạo Todo
+ DueDate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6639" y="1475999"/>
            <a:ext cx="12599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5439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55439" y="990000"/>
            <a:ext cx="2179439" cy="2808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2743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743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Reminder
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0079" y="1475999"/>
            <a:ext cx="12599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8879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78879" y="990000"/>
            <a:ext cx="2179439" cy="2808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087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087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AlarmManager
kích hoạt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3519" y="1475999"/>
            <a:ext cx="12599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2319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02319" y="990000"/>
            <a:ext cx="2179439" cy="280800"/>
          </a:xfrm>
          <a:prstGeom prst="rect">
            <a:avLst/>
          </a:prstGeom>
          <a:solidFill>
            <a:srgbClr val="9C2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431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431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Notification
+fullScreen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6959" y="1475999"/>
            <a:ext cx="12599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5759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25759" y="990000"/>
            <a:ext cx="2179439" cy="280800"/>
          </a:xfrm>
          <a:prstGeom prst="rect">
            <a:avLst/>
          </a:prstGeom>
          <a:solidFill>
            <a:srgbClr val="F443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9775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775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AlarmActivity
toàn màn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2592000"/>
            <a:ext cx="90000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C107"/>
                </a:solidFill>
                <a:latin typeface="Calibri"/>
              </a:rPr>
              <a:t>⚠️  THÁCH THỨC &amp; GIẢI PHÁP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2916000"/>
            <a:ext cx="5646599" cy="3384000"/>
          </a:xfrm>
          <a:prstGeom prst="rect">
            <a:avLst/>
          </a:prstGeom>
          <a:solidFill>
            <a:srgbClr val="32231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00" y="3006000"/>
            <a:ext cx="5430599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Calibri"/>
              </a:rPr>
              <a:t>Vấn đề 1:
Realme/OPPO đóng băng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" y="3546000"/>
            <a:ext cx="5430599" cy="262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OplusHansManager → freeze uid → AlarmManager bị chặn
✔  Giải pháp: fullScreenIntent + IMPORTANCE_HIGH Channel
    → Hệ thống bắt buộc hiển thị, vượt cơ chế đóng băng
    → Cấp quyền 'Tự khởi chạy' + 'Không hạn chế pin'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8599" y="2916000"/>
            <a:ext cx="5646599" cy="3384000"/>
          </a:xfrm>
          <a:prstGeom prst="rect">
            <a:avLst/>
          </a:prstGeom>
          <a:solidFill>
            <a:srgbClr val="32231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2599" y="3006000"/>
            <a:ext cx="5430599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Calibri"/>
              </a:rPr>
              <a:t>Vấn đề 2:
Độ trễ đồng bộ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2599" y="3546000"/>
            <a:ext cx="5430599" cy="262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Tạo task 20:30:50 → API trả về 20:31:10 (đã qua giờ)
✔  Giải pháp: Grace Period 3 phút
    → Nếu trễ &lt; 3 phút → kích hoạt báo ngay lập tức
    → Đảm bảo không bỏ lỡ thông báo quan trọng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06  –  GIAO DIỆN UI/UX &amp; MICRO-INTERACTIONS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3704399" cy="3168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737999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🌙  Dark Mode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999" y="11304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Nền nâu tối cao cấp (#251A11)
Card #322318 tạo chiều sâu
Không gây mỏi mắt khi dùng lâu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6399" y="720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6399" y="720000"/>
            <a:ext cx="3704399" cy="3168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4399" y="737999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🎯  Bounce Click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4399" y="1098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Spring vật lý khi nhấn nút
scale 1.0→0.95→1.0 đàn hồi
Áp dụng toàn bộ tương tác chạm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799" y="720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00799" y="720000"/>
            <a:ext cx="3704399" cy="3168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8799" y="737999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🃏  Priority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Glow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8799" y="1098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Nền pastel đổi theo ưu tiên:
Xanh/Vàng/Đỏ + viền gradient
Cảm giác khẩn cấp trực quan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754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2000" y="2754000"/>
            <a:ext cx="3704399" cy="316800"/>
          </a:xfrm>
          <a:prstGeom prst="rect">
            <a:avLst/>
          </a:prstGeom>
          <a:solidFill>
            <a:srgbClr val="9C2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000" y="2772000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🏗️  Jetpack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3132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100% Declarative UI
MVVM + StateFlow reactive
Không dùng XML layout cũ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6399" y="2754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16399" y="2754000"/>
            <a:ext cx="3704399" cy="316800"/>
          </a:xfrm>
          <a:prstGeom prst="rect">
            <a:avLst/>
          </a:prstGeom>
          <a:solidFill>
            <a:srgbClr val="FFC10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24399" y="2772000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🔍  Tìm kiếm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thông minh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4399" y="3132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Filter todo theo tiêu đề
Calendar picker chọn ngày
Category search inline riêng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0799" y="2754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00799" y="2754000"/>
            <a:ext cx="3704399" cy="316800"/>
          </a:xfrm>
          <a:prstGeom prst="rect">
            <a:avLst/>
          </a:prstGeom>
          <a:solidFill>
            <a:srgbClr val="F443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8799" y="2772000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📱  Navigation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Material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8799" y="3132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Bottom Nav 4 tab chính
LazyColumn key animation
Scaffold + MD3 chuẩn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07  –  GIỚI THIỆU CODE – BACKEND (JWT &amp; AuthService)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580000" cy="5328000"/>
          </a:xfrm>
          <a:prstGeom prst="rect">
            <a:avLst/>
          </a:prstGeom>
          <a:solidFill>
            <a:srgbClr val="322318"/>
          </a:solidFill>
          <a:ln w="1016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56000"/>
            <a:ext cx="54000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196F3"/>
                </a:solidFill>
                <a:latin typeface="Calibri"/>
              </a:rPr>
              <a:t>🔐  Tạo JWT Access 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044000"/>
            <a:ext cx="5436000" cy="4968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3999" y="1044000"/>
            <a:ext cx="5436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231200"/>
            <a:ext cx="5256000" cy="4734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private string </a:t>
            </a:r>
            <a:r>
              <a:rPr sz="1019">
                <a:solidFill>
                  <a:srgbClr val="E8E8E8"/>
                </a:solidFill>
                <a:latin typeface="Courier New"/>
              </a:rPr>
              <a:t>GenerateJwtToken(User user)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claims = new[]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new Claim(</a:t>
            </a:r>
            <a:r>
              <a:rPr sz="1019">
                <a:solidFill>
                  <a:srgbClr val="FFB080"/>
                </a:solidFill>
                <a:latin typeface="Courier New"/>
              </a:rPr>
              <a:t>ClaimTypes.NameIdentifier</a:t>
            </a:r>
            <a:r>
              <a:rPr sz="1019">
                <a:solidFill>
                  <a:srgbClr val="E8E8E8"/>
                </a:solidFill>
                <a:latin typeface="Courier New"/>
              </a:rPr>
              <a:t>, user.Id),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new Claim(</a:t>
            </a:r>
            <a:r>
              <a:rPr sz="1019">
                <a:solidFill>
                  <a:srgbClr val="FFB080"/>
                </a:solidFill>
                <a:latin typeface="Courier New"/>
              </a:rPr>
              <a:t>ClaimTypes.Email</a:t>
            </a:r>
            <a:r>
              <a:rPr sz="1019">
                <a:solidFill>
                  <a:srgbClr val="E8E8E8"/>
                </a:solidFill>
                <a:latin typeface="Courier New"/>
              </a:rPr>
              <a:t>, user.Email),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};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key </a:t>
            </a:r>
            <a:r>
              <a:rPr sz="1019">
                <a:solidFill>
                  <a:srgbClr val="6BB3FF"/>
                </a:solidFill>
                <a:latin typeface="Courier New"/>
              </a:rPr>
              <a:t>= new </a:t>
            </a:r>
            <a:r>
              <a:rPr sz="1019">
                <a:solidFill>
                  <a:srgbClr val="5EDFC8"/>
                </a:solidFill>
                <a:latin typeface="Courier New"/>
              </a:rPr>
              <a:t>SymmetricSecurityKey</a:t>
            </a:r>
            <a:r>
              <a:rPr sz="1019">
                <a:solidFill>
                  <a:srgbClr val="E8E8E8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  Encoding.UTF8.GetBytes(secretKey));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token </a:t>
            </a:r>
            <a:r>
              <a:rPr sz="1019">
                <a:solidFill>
                  <a:srgbClr val="6BB3FF"/>
                </a:solidFill>
                <a:latin typeface="Courier New"/>
              </a:rPr>
              <a:t>= new </a:t>
            </a:r>
            <a:r>
              <a:rPr sz="1019">
                <a:solidFill>
                  <a:srgbClr val="5EDFC8"/>
                </a:solidFill>
                <a:latin typeface="Courier New"/>
              </a:rPr>
              <a:t>JwtSecurityToken</a:t>
            </a:r>
            <a:r>
              <a:rPr sz="1019">
                <a:solidFill>
                  <a:srgbClr val="E8E8E8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issuer: jwtSettings[</a:t>
            </a:r>
            <a:r>
              <a:rPr sz="1019">
                <a:solidFill>
                  <a:srgbClr val="FFB080"/>
                </a:solidFill>
                <a:latin typeface="Courier New"/>
              </a:rPr>
              <a:t>"Issuer"</a:t>
            </a:r>
            <a:r>
              <a:rPr sz="1019">
                <a:solidFill>
                  <a:srgbClr val="E8E8E8"/>
                </a:solidFill>
                <a:latin typeface="Courier New"/>
              </a:rPr>
              <a:t>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expires: DateTime.UtcNow.AddMinutes(</a:t>
            </a:r>
            <a:r>
              <a:rPr sz="1019">
                <a:solidFill>
                  <a:srgbClr val="BFDEB5"/>
                </a:solidFill>
                <a:latin typeface="Courier New"/>
              </a:rPr>
              <a:t>60</a:t>
            </a:r>
            <a:r>
              <a:rPr sz="1019">
                <a:solidFill>
                  <a:srgbClr val="E8E8E8"/>
                </a:solidFill>
                <a:latin typeface="Courier New"/>
              </a:rPr>
              <a:t>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signingCredentials: creds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return new </a:t>
            </a:r>
            <a:r>
              <a:rPr sz="1019">
                <a:solidFill>
                  <a:srgbClr val="5EDFC8"/>
                </a:solidFill>
                <a:latin typeface="Courier New"/>
              </a:rPr>
              <a:t>JwtSecurityTokenHandler</a:t>
            </a:r>
            <a:r>
              <a:rPr sz="1019">
                <a:solidFill>
                  <a:srgbClr val="E8E8E8"/>
                </a:solidFill>
                <a:latin typeface="Courier New"/>
              </a:rPr>
              <a:t>().WriteToken(token);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720000"/>
            <a:ext cx="5688000" cy="5328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000" y="756000"/>
            <a:ext cx="54000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86A2E"/>
                </a:solidFill>
                <a:latin typeface="Calibri"/>
              </a:rPr>
              <a:t>📥  AuthService.Login() – Luồng đăng nhập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999" y="1044000"/>
            <a:ext cx="5544000" cy="4968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999" y="1044000"/>
            <a:ext cx="5544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5999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0" y="1231200"/>
            <a:ext cx="5364000" cy="4734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public async Task&lt;</a:t>
            </a:r>
            <a:r>
              <a:rPr sz="1019">
                <a:solidFill>
                  <a:srgbClr val="5EDFC8"/>
                </a:solidFill>
                <a:latin typeface="Courier New"/>
              </a:rPr>
              <a:t>AuthResponseDTO</a:t>
            </a:r>
            <a:r>
              <a:rPr sz="1019">
                <a:solidFill>
                  <a:srgbClr val="E8E8E8"/>
                </a:solidFill>
                <a:latin typeface="Courier New"/>
              </a:rPr>
              <a:t>&gt;&gt; Login(LoginDTO model)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// Tìm user theo Email hoặc Username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var user = await _userManager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.FindByEmailAsync(model.EmailOrUsername)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?? await _userManager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.FindByNameAsync(model.EmailOrUsername);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if (user == null </a:t>
            </a:r>
            <a:r>
              <a:rPr sz="1019">
                <a:solidFill>
                  <a:srgbClr val="E8E8E8"/>
                </a:solidFill>
                <a:latin typeface="Courier New"/>
              </a:rPr>
              <a:t>|| !await _userManager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.CheckPasswordAsync(user, model.Password))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throw new </a:t>
            </a:r>
            <a:r>
              <a:rPr sz="1019">
                <a:solidFill>
                  <a:srgbClr val="5EDFC8"/>
                </a:solidFill>
                <a:latin typeface="Courier New"/>
              </a:rPr>
              <a:t>UnauthorizedAccessException</a:t>
            </a:r>
            <a:r>
              <a:rPr sz="1019">
                <a:solidFill>
                  <a:srgbClr val="E8E8E8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// Tạo Access Token + Refresh Token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accessToken  = GenerateJwtToken(user);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refreshToken = await GenerateRefreshToken(user);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return new </a:t>
            </a:r>
            <a:r>
              <a:rPr sz="1019">
                <a:solidFill>
                  <a:srgbClr val="5EDFC8"/>
                </a:solidFill>
                <a:latin typeface="Courier New"/>
              </a:rPr>
              <a:t>AuthResponseDTO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{ AccessToken = accessToken,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RefreshToken = refreshToken.Token };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08  –  GIỚI THIỆU CODE – FRONTEND (Compose &amp; ViewModel)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580000" cy="2700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56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86A2E"/>
                </a:solidFill>
                <a:latin typeface="Calibri"/>
              </a:rPr>
              <a:t>🎯  BounceClick Modifier – Hiệu ứng lò xo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044000"/>
            <a:ext cx="5436000" cy="2304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3999" y="1044000"/>
            <a:ext cx="5436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231200"/>
            <a:ext cx="5256000" cy="2070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fun </a:t>
            </a:r>
            <a:r>
              <a:rPr sz="1019">
                <a:solidFill>
                  <a:srgbClr val="5EDFC8"/>
                </a:solidFill>
                <a:latin typeface="Courier New"/>
              </a:rPr>
              <a:t>Modifier</a:t>
            </a:r>
            <a:r>
              <a:rPr sz="1019">
                <a:solidFill>
                  <a:srgbClr val="E8E8E8"/>
                </a:solidFill>
                <a:latin typeface="Courier New"/>
              </a:rPr>
              <a:t>.bounceClick(enabled: </a:t>
            </a:r>
            <a:r>
              <a:rPr sz="1019">
                <a:solidFill>
                  <a:srgbClr val="5EDFC8"/>
                </a:solidFill>
                <a:latin typeface="Courier New"/>
              </a:rPr>
              <a:t>Boolean</a:t>
            </a:r>
            <a:r>
              <a:rPr sz="1019">
                <a:solidFill>
                  <a:srgbClr val="E8E8E8"/>
                </a:solidFill>
                <a:latin typeface="Courier New"/>
              </a:rPr>
              <a:t> = </a:t>
            </a:r>
            <a:r>
              <a:rPr sz="1019">
                <a:solidFill>
                  <a:srgbClr val="6BB3FF"/>
                </a:solidFill>
                <a:latin typeface="Courier New"/>
              </a:rPr>
              <a:t>true</a:t>
            </a:r>
            <a:r>
              <a:rPr sz="1019">
                <a:solidFill>
                  <a:srgbClr val="E8E8E8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           onClick: () -&gt; </a:t>
            </a:r>
            <a:r>
              <a:rPr sz="1019">
                <a:solidFill>
                  <a:srgbClr val="5EDFC8"/>
                </a:solidFill>
                <a:latin typeface="Courier New"/>
              </a:rPr>
              <a:t>Unit</a:t>
            </a:r>
            <a:r>
              <a:rPr sz="1019">
                <a:solidFill>
                  <a:srgbClr val="E8E8E8"/>
                </a:solidFill>
                <a:latin typeface="Courier New"/>
              </a:rPr>
              <a:t>) = composed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val isPressed by interactionSource.</a:t>
            </a:r>
            <a:r>
              <a:rPr sz="1019">
                <a:solidFill>
                  <a:srgbClr val="5EDFC8"/>
                </a:solidFill>
                <a:latin typeface="Courier New"/>
              </a:rPr>
              <a:t>collectIsPressedAsState</a:t>
            </a:r>
            <a:r>
              <a:rPr sz="1019">
                <a:solidFill>
                  <a:srgbClr val="E8E8E8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scale by animateFloatAsState(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targetValue = if (isPressed &amp;&amp; enabled) </a:t>
            </a:r>
            <a:r>
              <a:rPr sz="1019">
                <a:solidFill>
                  <a:srgbClr val="BFDEB5"/>
                </a:solidFill>
                <a:latin typeface="Courier New"/>
              </a:rPr>
              <a:t>0.95f</a:t>
            </a:r>
            <a:r>
              <a:rPr sz="1019">
                <a:solidFill>
                  <a:srgbClr val="6BB3FF"/>
                </a:solidFill>
                <a:latin typeface="Courier New"/>
              </a:rPr>
              <a:t> else </a:t>
            </a:r>
            <a:r>
              <a:rPr sz="1019">
                <a:solidFill>
                  <a:srgbClr val="BFDEB5"/>
                </a:solidFill>
                <a:latin typeface="Courier New"/>
              </a:rPr>
              <a:t>1f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animationSpec = spring(dampingRatio = </a:t>
            </a:r>
            <a:r>
              <a:rPr sz="1019">
                <a:solidFill>
                  <a:srgbClr val="BFDEB5"/>
                </a:solidFill>
                <a:latin typeface="Courier New"/>
              </a:rPr>
              <a:t>0.7f</a:t>
            </a:r>
            <a:r>
              <a:rPr sz="1019">
                <a:solidFill>
                  <a:srgbClr val="E8E8E8"/>
                </a:solidFill>
                <a:latin typeface="Courier New"/>
              </a:rPr>
              <a:t>, stiffness = </a:t>
            </a:r>
            <a:r>
              <a:rPr sz="1019">
                <a:solidFill>
                  <a:srgbClr val="BFDEB5"/>
                </a:solidFill>
                <a:latin typeface="Courier New"/>
              </a:rPr>
              <a:t>400f</a:t>
            </a:r>
            <a:r>
              <a:rPr sz="1019">
                <a:solidFill>
                  <a:srgbClr val="E8E8E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this.graphicsLayer { scaleX = scale; scaleY = scale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.clickable(enabled = enabled, onClick = onClick)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3528000"/>
            <a:ext cx="5580000" cy="277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000" y="3564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196F3"/>
                </a:solidFill>
                <a:latin typeface="Calibri"/>
              </a:rPr>
              <a:t>🏗️  HomeViewModel – Sync danh sách Todo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999" y="3816000"/>
            <a:ext cx="5436000" cy="2412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3999" y="3816000"/>
            <a:ext cx="5436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00" y="3826799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4003199"/>
            <a:ext cx="5256000" cy="2178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private val </a:t>
            </a:r>
            <a:r>
              <a:rPr sz="1019">
                <a:solidFill>
                  <a:srgbClr val="E8E8E8"/>
                </a:solidFill>
                <a:latin typeface="Courier New"/>
              </a:rPr>
              <a:t>_todoList = MutableStateFlow(emptyList&lt;</a:t>
            </a:r>
            <a:r>
              <a:rPr sz="1019">
                <a:solidFill>
                  <a:srgbClr val="5EDFC8"/>
                </a:solidFill>
                <a:latin typeface="Courier New"/>
              </a:rPr>
              <a:t>HomeUiState</a:t>
            </a:r>
            <a:r>
              <a:rPr sz="1019">
                <a:solidFill>
                  <a:srgbClr val="E8E8E8"/>
                </a:solidFill>
                <a:latin typeface="Courier New"/>
              </a:rPr>
              <a:t>&gt;()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val </a:t>
            </a:r>
            <a:r>
              <a:rPr sz="1019">
                <a:solidFill>
                  <a:srgbClr val="E8E8E8"/>
                </a:solidFill>
                <a:latin typeface="Courier New"/>
              </a:rPr>
              <a:t>todoList = _todoList.asStateFlow()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fun </a:t>
            </a:r>
            <a:r>
              <a:rPr sz="1019">
                <a:solidFill>
                  <a:srgbClr val="E8E8E8"/>
                </a:solidFill>
                <a:latin typeface="Courier New"/>
              </a:rPr>
              <a:t>loadTodos() { viewModelScope.</a:t>
            </a:r>
            <a:r>
              <a:rPr sz="1019">
                <a:solidFill>
                  <a:srgbClr val="5EDFC8"/>
                </a:solidFill>
                <a:latin typeface="Courier New"/>
              </a:rPr>
              <a:t>launch</a:t>
            </a:r>
            <a:r>
              <a:rPr sz="1019">
                <a:solidFill>
                  <a:srgbClr val="E8E8E8"/>
                </a:solidFill>
                <a:latin typeface="Courier New"/>
              </a:rPr>
              <a:t>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resp = api.getTodos(page=</a:t>
            </a:r>
            <a:r>
              <a:rPr sz="1019">
                <a:solidFill>
                  <a:srgbClr val="BFDEB5"/>
                </a:solidFill>
                <a:latin typeface="Courier New"/>
              </a:rPr>
              <a:t>1</a:t>
            </a:r>
            <a:r>
              <a:rPr sz="1019">
                <a:solidFill>
                  <a:srgbClr val="E8E8E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if (resp.isSuccessful)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_todoList.value = resp.body()?.data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?.map { it.toUiState() } ?: emptyList()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syncAlarms(_todoList.value)</a:t>
            </a:r>
            <a:r>
              <a:rPr sz="1019">
                <a:solidFill>
                  <a:srgbClr val="70C260"/>
                </a:solidFill>
                <a:latin typeface="Courier New"/>
              </a:rPr>
              <a:t>  // Đặt lại báo thức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2000" y="720000"/>
            <a:ext cx="5688000" cy="5580000"/>
          </a:xfrm>
          <a:prstGeom prst="rect">
            <a:avLst/>
          </a:prstGeom>
          <a:solidFill>
            <a:srgbClr val="322318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000" y="756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4CAF50"/>
                </a:solidFill>
                <a:latin typeface="Calibri"/>
              </a:rPr>
              <a:t>📱  TodoCard Composable – Giao diện thẻ việc làm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999" y="1044000"/>
            <a:ext cx="5544000" cy="5184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999" y="1044000"/>
            <a:ext cx="5544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5999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2000" y="1231200"/>
            <a:ext cx="5840060" cy="3472746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6BB3FF"/>
                </a:solidFill>
                <a:latin typeface="Courier New"/>
              </a:rPr>
              <a:t>@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Composable</a:t>
            </a:r>
            <a:endParaRPr sz="1019" dirty="0">
              <a:solidFill>
                <a:srgbClr val="6BB3FF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6BB3FF"/>
                </a:solidFill>
                <a:latin typeface="Courier New"/>
              </a:rPr>
              <a:t>fun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TodoCard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todo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: </a:t>
            </a:r>
            <a:r>
              <a:rPr sz="1019" dirty="0" err="1">
                <a:solidFill>
                  <a:srgbClr val="5EDFC8"/>
                </a:solidFill>
                <a:latin typeface="Courier New"/>
              </a:rPr>
              <a:t>HomeUiState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,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onToggle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: () -&gt; Unit)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6BB3FF"/>
                </a:solidFill>
                <a:latin typeface="Courier New"/>
              </a:rPr>
              <a:t>  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val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glowColor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 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= when (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todo.priority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0 -&gt; Color(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0xFF4CAF50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L)  </a:t>
            </a:r>
            <a:r>
              <a:rPr sz="1019" dirty="0">
                <a:solidFill>
                  <a:srgbClr val="70C260"/>
                </a:solidFill>
                <a:latin typeface="Courier New"/>
              </a:rPr>
              <a:t>// Low  – Green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1 -&gt; Color(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0xFFFF9800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L)  </a:t>
            </a:r>
            <a:r>
              <a:rPr sz="1019" dirty="0">
                <a:solidFill>
                  <a:srgbClr val="70C260"/>
                </a:solidFill>
                <a:latin typeface="Courier New"/>
              </a:rPr>
              <a:t>// Mid  – Orange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else -&gt; Color(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0xFFF44336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L) </a:t>
            </a:r>
            <a:r>
              <a:rPr sz="1019" dirty="0">
                <a:solidFill>
                  <a:srgbClr val="70C260"/>
                </a:solidFill>
                <a:latin typeface="Courier New"/>
              </a:rPr>
              <a:t>// High – Red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Surface(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modifier =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Modifier.fillMaxWidth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  .border(1.dp,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glowColor.copy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(alpha=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0.35f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)),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color =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glowColor.copy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(alpha=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0.08f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Row(modifier =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Modifier.</a:t>
            </a:r>
            <a:r>
              <a:rPr sz="1019" dirty="0" err="1">
                <a:solidFill>
                  <a:srgbClr val="5EDFC8"/>
                </a:solidFill>
                <a:latin typeface="Courier New"/>
              </a:rPr>
              <a:t>bounceClick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{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onToggle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() })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  Box(</a:t>
            </a:r>
            <a:r>
              <a:rPr sz="1019" dirty="0">
                <a:solidFill>
                  <a:srgbClr val="70C260"/>
                </a:solidFill>
                <a:latin typeface="Courier New"/>
              </a:rPr>
              <a:t>/* priority color bar */)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  Checkbox(checked=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todo.isDone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,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onCheckedChange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={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onToggle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()})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Text(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todo.title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6BB3FF"/>
                </a:solidFill>
                <a:latin typeface="Courier New"/>
              </a:rPr>
              <a:t> 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textDecoration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 = if (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todo.isDone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) </a:t>
            </a:r>
            <a:r>
              <a:rPr sz="1019" dirty="0" err="1">
                <a:solidFill>
                  <a:srgbClr val="5EDFC8"/>
                </a:solidFill>
                <a:latin typeface="Courier New"/>
              </a:rPr>
              <a:t>TextDecoration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.LineThrough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 else null)</a:t>
            </a:r>
            <a:endParaRPr lang="en-US" sz="1019" dirty="0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09  –  GIỚI THIỆU CODE – BÁO THỨC (AlarmReceiver &amp; Scheduler)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580000" cy="5328000"/>
          </a:xfrm>
          <a:prstGeom prst="rect">
            <a:avLst/>
          </a:prstGeom>
          <a:solidFill>
            <a:srgbClr val="322318"/>
          </a:solidFill>
          <a:ln w="1016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56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  <a:latin typeface="Calibri"/>
              </a:rPr>
              <a:t>⏰  AlarmReceiver.onReceive() – Kích hoạt chuông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044000"/>
            <a:ext cx="5436000" cy="4968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3999" y="1044000"/>
            <a:ext cx="5436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231200"/>
            <a:ext cx="5256000" cy="4734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class </a:t>
            </a:r>
            <a:r>
              <a:rPr sz="1019">
                <a:solidFill>
                  <a:srgbClr val="5EDFC8"/>
                </a:solidFill>
                <a:latin typeface="Courier New"/>
              </a:rPr>
              <a:t>AlarmReceiver</a:t>
            </a:r>
            <a:r>
              <a:rPr sz="1019">
                <a:solidFill>
                  <a:srgbClr val="E8E8E8"/>
                </a:solidFill>
                <a:latin typeface="Courier New"/>
              </a:rPr>
              <a:t> : </a:t>
            </a:r>
            <a:r>
              <a:rPr sz="1019">
                <a:solidFill>
                  <a:srgbClr val="5EDFC8"/>
                </a:solidFill>
                <a:latin typeface="Courier New"/>
              </a:rPr>
              <a:t>BroadcastReceiver</a:t>
            </a:r>
            <a:r>
              <a:rPr sz="1019">
                <a:solidFill>
                  <a:srgbClr val="E8E8E8"/>
                </a:solidFill>
                <a:latin typeface="Courier New"/>
              </a:rPr>
              <a:t>()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override fun </a:t>
            </a:r>
            <a:r>
              <a:rPr sz="1019">
                <a:solidFill>
                  <a:srgbClr val="E8E8E8"/>
                </a:solidFill>
                <a:latin typeface="Courier New"/>
              </a:rPr>
              <a:t>onReceive(ctx: </a:t>
            </a:r>
            <a:r>
              <a:rPr sz="1019">
                <a:solidFill>
                  <a:srgbClr val="5EDFC8"/>
                </a:solidFill>
                <a:latin typeface="Courier New"/>
              </a:rPr>
              <a:t>Context</a:t>
            </a:r>
            <a:r>
              <a:rPr sz="1019">
                <a:solidFill>
                  <a:srgbClr val="E8E8E8"/>
                </a:solidFill>
                <a:latin typeface="Courier New"/>
              </a:rPr>
              <a:t>?, intent: </a:t>
            </a:r>
            <a:r>
              <a:rPr sz="1019">
                <a:solidFill>
                  <a:srgbClr val="5EDFC8"/>
                </a:solidFill>
                <a:latin typeface="Courier New"/>
              </a:rPr>
              <a:t>Intent</a:t>
            </a:r>
            <a:r>
              <a:rPr sz="1019">
                <a:solidFill>
                  <a:srgbClr val="E8E8E8"/>
                </a:solidFill>
                <a:latin typeface="Courier New"/>
              </a:rPr>
              <a:t>?)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val title = intent?.getStringExtra(</a:t>
            </a:r>
            <a:r>
              <a:rPr sz="1019">
                <a:solidFill>
                  <a:srgbClr val="FFB080"/>
                </a:solidFill>
                <a:latin typeface="Courier New"/>
              </a:rPr>
              <a:t>"TITLE"</a:t>
            </a:r>
            <a:r>
              <a:rPr sz="1019">
                <a:solidFill>
                  <a:srgbClr val="E8E8E8"/>
                </a:solidFill>
                <a:latin typeface="Courier New"/>
              </a:rPr>
              <a:t>)?:</a:t>
            </a:r>
            <a:r>
              <a:rPr sz="1019">
                <a:solidFill>
                  <a:srgbClr val="FFB080"/>
                </a:solidFill>
                <a:latin typeface="Courier New"/>
              </a:rPr>
              <a:t>"Alarm"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FFB08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  // Tạo Notification Channel độ ưu tiên cao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val </a:t>
            </a:r>
            <a:r>
              <a:rPr sz="1019">
                <a:solidFill>
                  <a:srgbClr val="E8E8E8"/>
                </a:solidFill>
                <a:latin typeface="Courier New"/>
              </a:rPr>
              <a:t>channel = NotificationChannel(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, </a:t>
            </a:r>
            <a:r>
              <a:rPr sz="1019">
                <a:solidFill>
                  <a:srgbClr val="FFB080"/>
                </a:solidFill>
                <a:latin typeface="Courier New"/>
              </a:rPr>
              <a:t>"Báo thức"</a:t>
            </a:r>
            <a:r>
              <a:rPr sz="1019">
                <a:solidFill>
                  <a:srgbClr val="6BB3FF"/>
                </a:solidFill>
                <a:latin typeface="Courier New"/>
              </a:rPr>
              <a:t>, IMPORTANCE_HIGH)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6BB3FF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  // fullScreenIntent – vượt màn hình khóa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val </a:t>
            </a:r>
            <a:r>
              <a:rPr sz="1019">
                <a:solidFill>
                  <a:srgbClr val="E8E8E8"/>
                </a:solidFill>
                <a:latin typeface="Courier New"/>
              </a:rPr>
              <a:t>fsi = PendingIntent.getActivity(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ctx, 0, Intent(ctx, </a:t>
            </a:r>
            <a:r>
              <a:rPr sz="1019">
                <a:solidFill>
                  <a:srgbClr val="5EDFC8"/>
                </a:solidFill>
                <a:latin typeface="Courier New"/>
              </a:rPr>
              <a:t>AlarmActivity</a:t>
            </a:r>
            <a:r>
              <a:rPr sz="1019">
                <a:solidFill>
                  <a:srgbClr val="E8E8E8"/>
                </a:solidFill>
                <a:latin typeface="Courier New"/>
              </a:rPr>
              <a:t>::class.java),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  FLAG_IMMUTABLE</a:t>
            </a:r>
            <a:r>
              <a:rPr sz="1019">
                <a:solidFill>
                  <a:srgbClr val="E8E8E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NotificationCompat.Builder(ctx, </a:t>
            </a:r>
            <a:r>
              <a:rPr sz="1019">
                <a:solidFill>
                  <a:srgbClr val="FFB080"/>
                </a:solidFill>
                <a:latin typeface="Courier New"/>
              </a:rPr>
              <a:t>"ALARM_CH"</a:t>
            </a:r>
            <a:r>
              <a:rPr sz="1019">
                <a:solidFill>
                  <a:srgbClr val="E8E8E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.setContentTitle(title)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  .setPriority(PRIORITY_HIGH)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.setFullScreenIntent(fsi, </a:t>
            </a:r>
            <a:r>
              <a:rPr sz="1019">
                <a:solidFill>
                  <a:srgbClr val="6BB3FF"/>
                </a:solidFill>
                <a:latin typeface="Courier New"/>
              </a:rPr>
              <a:t>true</a:t>
            </a:r>
            <a:r>
              <a:rPr sz="1019">
                <a:solidFill>
                  <a:srgbClr val="E8E8E8"/>
                </a:solidFill>
                <a:latin typeface="Courier New"/>
              </a:rPr>
              <a:t>)  </a:t>
            </a:r>
            <a:r>
              <a:rPr sz="1019">
                <a:solidFill>
                  <a:srgbClr val="70C260"/>
                </a:solidFill>
                <a:latin typeface="Courier New"/>
              </a:rPr>
              <a:t>// KEY!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.build() → notificationManager.notify(0, it)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720000"/>
            <a:ext cx="5688000" cy="5328000"/>
          </a:xfrm>
          <a:prstGeom prst="rect">
            <a:avLst/>
          </a:prstGeom>
          <a:solidFill>
            <a:srgbClr val="322318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000" y="756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4CAF50"/>
                </a:solidFill>
                <a:latin typeface="Calibri"/>
              </a:rPr>
              <a:t>📅  ReminderScheduler – Đặt &amp; Hủy báo thức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999" y="1044000"/>
            <a:ext cx="5544000" cy="4968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999" y="1044000"/>
            <a:ext cx="5544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5999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0" y="1231200"/>
            <a:ext cx="5364000" cy="4734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fun </a:t>
            </a:r>
            <a:r>
              <a:rPr sz="1019">
                <a:solidFill>
                  <a:srgbClr val="E8E8E8"/>
                </a:solidFill>
                <a:latin typeface="Courier New"/>
              </a:rPr>
              <a:t>scheduleAlarm(ctx: </a:t>
            </a:r>
            <a:r>
              <a:rPr sz="1019">
                <a:solidFill>
                  <a:srgbClr val="5EDFC8"/>
                </a:solidFill>
                <a:latin typeface="Courier New"/>
              </a:rPr>
              <a:t>Context</a:t>
            </a:r>
            <a:r>
              <a:rPr sz="1019">
                <a:solidFill>
                  <a:srgbClr val="E8E8E8"/>
                </a:solidFill>
                <a:latin typeface="Courier New"/>
              </a:rPr>
              <a:t>, todo: </a:t>
            </a:r>
            <a:r>
              <a:rPr sz="1019">
                <a:solidFill>
                  <a:srgbClr val="5EDFC8"/>
                </a:solidFill>
                <a:latin typeface="Courier New"/>
              </a:rPr>
              <a:t>HomeUiState</a:t>
            </a:r>
            <a:r>
              <a:rPr sz="1019">
                <a:solidFill>
                  <a:srgbClr val="E8E8E8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triggerMs = todo.duedate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.atZone(ZoneId.systemDefault()).toInstant().toEpochMilli()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now = System.currentTimeMillis()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// Grace Period 3 phút – chống trễ API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if </a:t>
            </a:r>
            <a:r>
              <a:rPr sz="1019">
                <a:solidFill>
                  <a:srgbClr val="E8E8E8"/>
                </a:solidFill>
                <a:latin typeface="Courier New"/>
              </a:rPr>
              <a:t>(triggerMs &lt; now &amp;&amp; now - triggerMs &lt; </a:t>
            </a:r>
            <a:r>
              <a:rPr sz="1019">
                <a:solidFill>
                  <a:srgbClr val="BFDEB5"/>
                </a:solidFill>
                <a:latin typeface="Courier New"/>
              </a:rPr>
              <a:t>180_000L</a:t>
            </a:r>
            <a:r>
              <a:rPr sz="1019">
                <a:solidFill>
                  <a:srgbClr val="E8E8E8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ctx.sendBroadcast(Intent(</a:t>
            </a:r>
            <a:r>
              <a:rPr sz="1019">
                <a:solidFill>
                  <a:srgbClr val="6BB3FF"/>
                </a:solidFill>
                <a:latin typeface="Courier New"/>
              </a:rPr>
              <a:t>ACTION_ALARM</a:t>
            </a:r>
            <a:r>
              <a:rPr sz="1019">
                <a:solidFill>
                  <a:srgbClr val="E8E8E8"/>
                </a:solidFill>
                <a:latin typeface="Courier New"/>
              </a:rPr>
              <a:t>))</a:t>
            </a:r>
            <a:r>
              <a:rPr sz="1019">
                <a:solidFill>
                  <a:srgbClr val="70C260"/>
                </a:solidFill>
                <a:latin typeface="Courier New"/>
              </a:rPr>
              <a:t> // ngay!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return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am = ctx.getSystemService(</a:t>
            </a:r>
            <a:r>
              <a:rPr sz="1019">
                <a:solidFill>
                  <a:srgbClr val="5EDFC8"/>
                </a:solidFill>
                <a:latin typeface="Courier New"/>
              </a:rPr>
              <a:t>AlarmManager</a:t>
            </a:r>
            <a:r>
              <a:rPr sz="1019">
                <a:solidFill>
                  <a:srgbClr val="E8E8E8"/>
                </a:solidFill>
                <a:latin typeface="Courier New"/>
              </a:rPr>
              <a:t>::class.java)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am.</a:t>
            </a:r>
            <a:r>
              <a:rPr sz="1019">
                <a:solidFill>
                  <a:srgbClr val="5EDFC8"/>
                </a:solidFill>
                <a:latin typeface="Courier New"/>
              </a:rPr>
              <a:t>setExactAndAllowWhileIdle</a:t>
            </a:r>
            <a:r>
              <a:rPr sz="1019">
                <a:solidFill>
                  <a:srgbClr val="E8E8E8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AlarmManager.RTC_WAKEUP, triggerMs, pendingIntent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fun </a:t>
            </a:r>
            <a:r>
              <a:rPr sz="1019">
                <a:solidFill>
                  <a:srgbClr val="E8E8E8"/>
                </a:solidFill>
                <a:latin typeface="Courier New"/>
              </a:rPr>
              <a:t>cancelAlarm(ctx: </a:t>
            </a:r>
            <a:r>
              <a:rPr sz="1019">
                <a:solidFill>
                  <a:srgbClr val="5EDFC8"/>
                </a:solidFill>
                <a:latin typeface="Courier New"/>
              </a:rPr>
              <a:t>Context</a:t>
            </a:r>
            <a:r>
              <a:rPr sz="1019">
                <a:solidFill>
                  <a:srgbClr val="E8E8E8"/>
                </a:solidFill>
                <a:latin typeface="Courier New"/>
              </a:rPr>
              <a:t>, todoId: </a:t>
            </a:r>
            <a:r>
              <a:rPr sz="1019">
                <a:solidFill>
                  <a:srgbClr val="5EDFC8"/>
                </a:solidFill>
                <a:latin typeface="Courier New"/>
              </a:rPr>
              <a:t>Int</a:t>
            </a:r>
            <a:r>
              <a:rPr sz="1019">
                <a:solidFill>
                  <a:srgbClr val="E8E8E8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val am = ctx.getSystemService(</a:t>
            </a:r>
            <a:r>
              <a:rPr sz="1019">
                <a:solidFill>
                  <a:srgbClr val="5EDFC8"/>
                </a:solidFill>
                <a:latin typeface="Courier New"/>
              </a:rPr>
              <a:t>AlarmManager</a:t>
            </a:r>
            <a:r>
              <a:rPr sz="1019">
                <a:solidFill>
                  <a:srgbClr val="E8E8E8"/>
                </a:solidFill>
                <a:latin typeface="Courier New"/>
              </a:rPr>
              <a:t>::class.java)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am.cancel(buildPendingIntent(ctx, todoId))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10  –  DEMO LUỒNG SỬ DỤNG THỰC TẾ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6A2E"/>
                </a:solidFill>
                <a:latin typeface="Calibri"/>
              </a:rPr>
              <a:t>📱  Luồng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🔐
Đăng nhập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Nhập Email+Pass
Nhận JWT Token
Lưu mã hóa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6639" y="2088000"/>
            <a:ext cx="125999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A28A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5439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2743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🏠
Màn hình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743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Xem Todo hôm nay
Calendar filter
Bounce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0079" y="2088000"/>
            <a:ext cx="125999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A28A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8879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5087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➕
Tạo Todo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087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Tiêu đề+Mô tả
Category+Priority
DueDate→Báo thức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3519" y="2088000"/>
            <a:ext cx="125999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A28A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2319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431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🗂️
Danh mục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431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Thêm/Sửa/Xóa
Search inline
Cascade 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6959" y="2088000"/>
            <a:ext cx="125999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A28A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25759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9775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⏰
Báo thức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775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Màn hình toàn
Qua khóa điện thoại
Snooze 5p/Tắt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3744000"/>
            <a:ext cx="72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📡  ENDPOINTS API CHÍNH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014000"/>
            <a:ext cx="56465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2000" y="4057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/api/Auth/register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7629" y="4093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Đăng ký tài khoản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4590000"/>
            <a:ext cx="56465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2000" y="4633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/api/Auth/login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7629" y="4669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Đăng nhập → JWT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5166000"/>
            <a:ext cx="56465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5209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/api/Auth/refresh-token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7629" y="5245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Làm mới Access Token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5742000"/>
            <a:ext cx="56465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2000" y="5785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/api/Auth/revoke-token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7629" y="5821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Thu hồi token Logout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8599" y="4014000"/>
            <a:ext cx="56465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48599" y="4057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GET  /api/ToDoItem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4229" y="4093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Lấy danh sách Todo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58599" y="4590000"/>
            <a:ext cx="56465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48599" y="4633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/api/ToDoItem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4229" y="4669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Tạo Todo mới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8599" y="5166000"/>
            <a:ext cx="56465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48599" y="5209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PUT  /api/ToDoItem/{id}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4229" y="5245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Sửa Todo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8599" y="5742000"/>
            <a:ext cx="56465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48599" y="5785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PATCH /api/ToDoItem/{id}/toggle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4229" y="5821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Toggle hoàn thành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11  –  KẾT LUẬN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646599" cy="522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5646599" cy="3168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741600"/>
            <a:ext cx="5502599" cy="27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KẾT QUẢ ĐẠT ĐƯỢC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00" y="1123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Ứng dụng Todo CRUD đầy đủ, phân loại
theo danh mục và 3 mức ưu tiên.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00" y="1969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Xác thực JWT 2 tầng bảo mật cao,
tự động làm mới không cần đăng nhập lại.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" y="2815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Báo thức chính xác qua màn hình khóa
ngay cả trên Realme/OPPO.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3661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Dark Mode + Bounce Click + Priority Glow
Cards cao cấp, mượt mà.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" y="4507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Kiến trúc Backend–Mobile tách biệt rõ
ràng, dễ mở rộng và bảo trì.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8599" y="720000"/>
            <a:ext cx="5646599" cy="522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58599" y="720000"/>
            <a:ext cx="5646599" cy="3168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6600" y="741600"/>
            <a:ext cx="5502599" cy="27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🚀  HƯỚNG PHÁT TRIỂN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2599" y="1123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🌐  Deploy backend lên Cloud (Azure/AWS)
     dùng được trên nhiều thiết bị.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2599" y="1969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🔔  Tích hợp Firebase Cloud Messaging
     thay AlarmManager local.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599" y="2815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👥  Chia sẻ công việc giữa nhiều người
     dùng (Team Todo Collab).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2599" y="3661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📊  Dashboard thống kê năng suất theo
     ngày / tuần / tháng.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2599" y="4507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🍎  Phát triển iOS bằng Kotlin Multiplatform
     hoặc Flutter cross-platform.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TÀI LIỆU THAM KHẢO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11473200" cy="5616000"/>
          </a:xfrm>
          <a:prstGeom prst="rect">
            <a:avLst/>
          </a:prstGeom>
          <a:solidFill>
            <a:srgbClr val="322318"/>
          </a:solidFill>
          <a:ln w="12700">
            <a:solidFill>
              <a:srgbClr val="422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3999" y="846000"/>
            <a:ext cx="11329200" cy="61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00" y="889200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874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Jetpack Compose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162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Android Developers  –  developer.android.com/jetpack/compose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3999" y="1530000"/>
            <a:ext cx="11329200" cy="61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00" y="1573200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1558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.NET Core WebAPI &amp; ASP.NET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1846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Microsoft Docs  –  learn.microsoft.com/aspnet/core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2214000"/>
            <a:ext cx="11329200" cy="61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00" y="2257200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2242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JSON Web Tokens – 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2530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JWT.io  –  jwt.io/introduction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897999"/>
            <a:ext cx="11329200" cy="61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00" y="2941199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2926799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AlarmManager – Schedule repeating alarms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3214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Android Developers  –  developer.android.com/training/scheduling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999" y="3581999"/>
            <a:ext cx="11329200" cy="61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00" y="3625199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000" y="3610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EncryptedSharedPreferences (Jetpack Security)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000" y="3898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Android Developers  –  developer.android.com/topic/security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4266000"/>
            <a:ext cx="11329200" cy="61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00" y="4309200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000" y="4294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Coroutines Guide – Async programming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000" y="4582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Kotlin  –  kotlinlang.org/docs/coroutines-overview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3999" y="4949999"/>
            <a:ext cx="11329200" cy="61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00" y="4993199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[7]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000" y="4978799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MVVM Architecture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000" y="5266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Android Developers  –  developer.android.com/topic/architecture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999" y="5633999"/>
            <a:ext cx="11329200" cy="61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00" y="5677199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[8]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000" y="5662799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Source Code – Nhóm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000" y="5950799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GitHub  –  github.com/Hao92322/LTDPTMobileApp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2424600"/>
            <a:ext cx="11833200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3500" b="1">
                <a:solidFill>
                  <a:srgbClr val="FDF6EE"/>
                </a:solidFill>
                <a:latin typeface="Calibri"/>
              </a:rPr>
              <a:t>XIN CẢM ƠN THẦY ĐÃ LẮNG NGHE!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0" y="3654000"/>
            <a:ext cx="4608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3761999"/>
            <a:ext cx="11833200" cy="323165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8A28A"/>
                </a:solidFill>
                <a:latin typeface="Calibri"/>
              </a:rPr>
              <a:t>Nhóm 5 changlinhngulam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4104000"/>
            <a:ext cx="118332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6A2E"/>
                </a:solidFill>
                <a:latin typeface="Calibri"/>
              </a:rPr>
              <a:t>🔗  github.com/Hao92322/LTDPTMobileApp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4572000"/>
            <a:ext cx="11833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6A2E"/>
                </a:solidFill>
                <a:latin typeface="Calibri"/>
              </a:rPr>
              <a:t>Câu hỏi &amp; Thảo luận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6B8AF-AA16-3135-2160-89ADD8CBA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395DA-E4B1-9DF8-6A9A-870480567EFB}"/>
              </a:ext>
            </a:extLst>
          </p:cNvPr>
          <p:cNvSpPr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86EC9D-BC43-6F0B-0FB6-6C9BF4040A95}"/>
              </a:ext>
            </a:extLst>
          </p:cNvPr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12640-4416-3449-C699-D7E9308C97C2}"/>
              </a:ext>
            </a:extLst>
          </p:cNvPr>
          <p:cNvSpPr txBox="1"/>
          <p:nvPr/>
        </p:nvSpPr>
        <p:spPr>
          <a:xfrm>
            <a:off x="180000" y="2986200"/>
            <a:ext cx="11833200" cy="60016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3300" b="1">
                <a:solidFill>
                  <a:srgbClr val="E86A2E"/>
                </a:solidFill>
                <a:latin typeface="Calibri"/>
              </a:rPr>
              <a:t>Câu hỏi &amp; Thảo luận</a:t>
            </a:r>
          </a:p>
        </p:txBody>
      </p:sp>
    </p:spTree>
    <p:extLst>
      <p:ext uri="{BB962C8B-B14F-4D97-AF65-F5344CB8AC3E}">
        <p14:creationId xmlns:p14="http://schemas.microsoft.com/office/powerpoint/2010/main" val="335088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a574f72-e36a-41cd-bdb3-009cbcd57086}" enabled="0" method="" siteId="{5a574f72-e36a-41cd-bdb3-009cbcd570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2648</Words>
  <Application>Microsoft Office PowerPoint</Application>
  <PresentationFormat>Custom</PresentationFormat>
  <Paragraphs>382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Tran Van Nam</cp:lastModifiedBy>
  <cp:revision>3</cp:revision>
  <dcterms:created xsi:type="dcterms:W3CDTF">2013-01-27T09:14:16Z</dcterms:created>
  <dcterms:modified xsi:type="dcterms:W3CDTF">2026-07-16T04:26:05Z</dcterms:modified>
  <cp:category/>
</cp:coreProperties>
</file>